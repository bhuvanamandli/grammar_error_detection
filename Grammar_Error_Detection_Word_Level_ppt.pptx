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1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ikQKidTAUHc5CLYebsHBDMS3c7Z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369BAAD-0664-435E-B2A8-3C3E592CA099}">
  <a:tblStyle styleId="{0369BAAD-0664-435E-B2A8-3C3E592CA099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Sentences</c:v>
                </c:pt>
              </c:strCache>
            </c:strRef>
          </c:tx>
          <c:spPr>
            <a:solidFill>
              <a:srgbClr val="2D6A4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6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D6A4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5292F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CORRECT</c:v>
                  </c:pt>
                  <c:pt idx="1">
                    <c:v>INCORRECT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8762</c:v>
                </c:pt>
                <c:pt idx="1">
                  <c:v>16834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26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C465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3E6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C465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h754e48dc661aca41_0_0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" name="Google Shape;23;h754e48dc661aca41_0_0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" name="Google Shape;4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" name="Google Shape;4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" name="Google Shape;9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2" name="Google Shape;13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7" name="Google Shape;15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0" name="Google Shape;19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4" name="Google Shape;21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4" name="Google Shape;24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7" name="Google Shape;26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8" name="Google Shape;26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2" name="Google Shape;31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3" name="Google Shape;31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4" name="Google Shape;33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5" name="Google Shape;33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5" name="Google Shape;36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6" name="Google Shape;366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h4362b10b95629df1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h4362b10b95629df1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h4362b10b95629df1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4" name="Google Shape;40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5" name="Google Shape;405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9" name="Google Shape;42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0" name="Google Shape;430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h754e48dc661aca41_0_62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5" name="Google Shape;455;h754e48dc661aca41_0_62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2" name="Google Shape;46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3" name="Google Shape;463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h754e48dc661aca41_0_32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Char char="●"/>
              <a:defRPr b="0" i="0" sz="6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h754e48dc661aca41_0_32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h754e48dc661aca41_0_32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h754e48dc661aca41_0_32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h754e48dc661aca41_0_3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_1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h754e48dc661aca41_0_8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h754e48dc661aca41_0_8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h754e48dc661aca41_0_8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h754e48dc661aca41_0_0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6" name="Google Shape;26;h754e48dc661aca41_0_0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27" name="Google Shape;27;h754e48dc661aca41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476250"/>
            <a:ext cx="12192000" cy="7334251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h754e48dc661aca41_0_0"/>
          <p:cNvSpPr txBox="1"/>
          <p:nvPr/>
        </p:nvSpPr>
        <p:spPr>
          <a:xfrm flipH="1">
            <a:off x="3230700" y="3602050"/>
            <a:ext cx="57306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Grammar Error Detection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h754e48dc661aca41_0_0"/>
          <p:cNvSpPr txBox="1"/>
          <p:nvPr/>
        </p:nvSpPr>
        <p:spPr>
          <a:xfrm flipH="1">
            <a:off x="7894425" y="5017055"/>
            <a:ext cx="4230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Presented By: </a:t>
            </a:r>
            <a:r>
              <a:rPr b="1" i="0" lang="en-US" sz="18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Bhuvana Mandli</a:t>
            </a:r>
            <a:endParaRPr b="1" i="0" sz="1800" u="none" cap="none" strike="noStrike">
              <a:solidFill>
                <a:srgbClr val="1F386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Batch No. 493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h754e48dc661aca41_0_0"/>
          <p:cNvSpPr/>
          <p:nvPr/>
        </p:nvSpPr>
        <p:spPr>
          <a:xfrm>
            <a:off x="3980492" y="4242171"/>
            <a:ext cx="539700" cy="539700"/>
          </a:xfrm>
          <a:prstGeom prst="ellipse">
            <a:avLst/>
          </a:prstGeom>
          <a:solidFill>
            <a:srgbClr val="415A77"/>
          </a:solidFill>
          <a:ln>
            <a:noFill/>
          </a:ln>
        </p:spPr>
        <p:txBody>
          <a:bodyPr anchorCtr="0" anchor="ctr" bIns="56775" lIns="56775" spcFirstLastPara="1" rIns="56775" wrap="square" tIns="56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h754e48dc661aca41_0_0"/>
          <p:cNvSpPr txBox="1"/>
          <p:nvPr/>
        </p:nvSpPr>
        <p:spPr>
          <a:xfrm>
            <a:off x="3980492" y="4242171"/>
            <a:ext cx="539700" cy="53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3"/>
              <a:buFont typeface="Calibri"/>
              <a:buNone/>
            </a:pPr>
            <a:r>
              <a:rPr b="0" i="0" lang="en-US" sz="186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✅</a:t>
            </a:r>
            <a:endParaRPr b="0" i="0" sz="18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h754e48dc661aca41_0_0"/>
          <p:cNvSpPr/>
          <p:nvPr/>
        </p:nvSpPr>
        <p:spPr>
          <a:xfrm>
            <a:off x="4718756" y="4242171"/>
            <a:ext cx="539700" cy="539700"/>
          </a:xfrm>
          <a:prstGeom prst="ellipse">
            <a:avLst/>
          </a:prstGeom>
          <a:solidFill>
            <a:srgbClr val="415A77"/>
          </a:solidFill>
          <a:ln>
            <a:noFill/>
          </a:ln>
        </p:spPr>
        <p:txBody>
          <a:bodyPr anchorCtr="0" anchor="ctr" bIns="56775" lIns="56775" spcFirstLastPara="1" rIns="56775" wrap="square" tIns="56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h754e48dc661aca41_0_0"/>
          <p:cNvSpPr txBox="1"/>
          <p:nvPr/>
        </p:nvSpPr>
        <p:spPr>
          <a:xfrm>
            <a:off x="4718756" y="4242171"/>
            <a:ext cx="539700" cy="53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3"/>
              <a:buFont typeface="Calibri"/>
              <a:buNone/>
            </a:pPr>
            <a:r>
              <a:rPr b="0" i="0" lang="en-US" sz="186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❌</a:t>
            </a:r>
            <a:endParaRPr b="0" i="0" sz="18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h754e48dc661aca41_0_0"/>
          <p:cNvSpPr/>
          <p:nvPr/>
        </p:nvSpPr>
        <p:spPr>
          <a:xfrm>
            <a:off x="5457021" y="4242171"/>
            <a:ext cx="539700" cy="539700"/>
          </a:xfrm>
          <a:prstGeom prst="ellipse">
            <a:avLst/>
          </a:prstGeom>
          <a:solidFill>
            <a:srgbClr val="415A77"/>
          </a:solidFill>
          <a:ln>
            <a:noFill/>
          </a:ln>
        </p:spPr>
        <p:txBody>
          <a:bodyPr anchorCtr="0" anchor="ctr" bIns="56775" lIns="56775" spcFirstLastPara="1" rIns="56775" wrap="square" tIns="56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h754e48dc661aca41_0_0"/>
          <p:cNvSpPr txBox="1"/>
          <p:nvPr/>
        </p:nvSpPr>
        <p:spPr>
          <a:xfrm>
            <a:off x="5457021" y="4242171"/>
            <a:ext cx="539700" cy="53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3"/>
              <a:buFont typeface="Calibri"/>
              <a:buNone/>
            </a:pPr>
            <a:r>
              <a:rPr b="0" i="0" lang="en-US" sz="186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✍️</a:t>
            </a:r>
            <a:endParaRPr b="0" i="0" sz="18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h754e48dc661aca41_0_0"/>
          <p:cNvSpPr/>
          <p:nvPr/>
        </p:nvSpPr>
        <p:spPr>
          <a:xfrm>
            <a:off x="6195286" y="4242171"/>
            <a:ext cx="539700" cy="539700"/>
          </a:xfrm>
          <a:prstGeom prst="ellipse">
            <a:avLst/>
          </a:prstGeom>
          <a:solidFill>
            <a:srgbClr val="415A77"/>
          </a:solidFill>
          <a:ln>
            <a:noFill/>
          </a:ln>
        </p:spPr>
        <p:txBody>
          <a:bodyPr anchorCtr="0" anchor="ctr" bIns="56775" lIns="56775" spcFirstLastPara="1" rIns="56775" wrap="square" tIns="56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h754e48dc661aca41_0_0"/>
          <p:cNvSpPr txBox="1"/>
          <p:nvPr/>
        </p:nvSpPr>
        <p:spPr>
          <a:xfrm>
            <a:off x="6195286" y="4242171"/>
            <a:ext cx="539700" cy="53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3"/>
              <a:buFont typeface="Calibri"/>
              <a:buNone/>
            </a:pPr>
            <a:r>
              <a:rPr b="0" i="0" lang="en-US" sz="186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📝</a:t>
            </a:r>
            <a:endParaRPr b="0" i="0" sz="18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h754e48dc661aca41_0_0"/>
          <p:cNvSpPr/>
          <p:nvPr/>
        </p:nvSpPr>
        <p:spPr>
          <a:xfrm>
            <a:off x="6933551" y="4242171"/>
            <a:ext cx="539700" cy="539700"/>
          </a:xfrm>
          <a:prstGeom prst="ellipse">
            <a:avLst/>
          </a:prstGeom>
          <a:solidFill>
            <a:srgbClr val="415A77"/>
          </a:solidFill>
          <a:ln>
            <a:noFill/>
          </a:ln>
        </p:spPr>
        <p:txBody>
          <a:bodyPr anchorCtr="0" anchor="ctr" bIns="56775" lIns="56775" spcFirstLastPara="1" rIns="56775" wrap="square" tIns="56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h754e48dc661aca41_0_0"/>
          <p:cNvSpPr txBox="1"/>
          <p:nvPr/>
        </p:nvSpPr>
        <p:spPr>
          <a:xfrm>
            <a:off x="6933551" y="4242171"/>
            <a:ext cx="539700" cy="53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3"/>
              <a:buFont typeface="Calibri"/>
              <a:buNone/>
            </a:pPr>
            <a:r>
              <a:rPr b="0" i="0" lang="en-US" sz="186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🔤</a:t>
            </a:r>
            <a:endParaRPr b="0" i="0" sz="18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h754e48dc661aca41_0_0"/>
          <p:cNvSpPr/>
          <p:nvPr/>
        </p:nvSpPr>
        <p:spPr>
          <a:xfrm>
            <a:off x="7671816" y="4242171"/>
            <a:ext cx="539700" cy="539700"/>
          </a:xfrm>
          <a:prstGeom prst="ellipse">
            <a:avLst/>
          </a:prstGeom>
          <a:solidFill>
            <a:srgbClr val="415A77"/>
          </a:solidFill>
          <a:ln>
            <a:noFill/>
          </a:ln>
        </p:spPr>
        <p:txBody>
          <a:bodyPr anchorCtr="0" anchor="ctr" bIns="56775" lIns="56775" spcFirstLastPara="1" rIns="56775" wrap="square" tIns="56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h754e48dc661aca41_0_0"/>
          <p:cNvSpPr txBox="1"/>
          <p:nvPr/>
        </p:nvSpPr>
        <p:spPr>
          <a:xfrm>
            <a:off x="7671816" y="4242171"/>
            <a:ext cx="539700" cy="53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3"/>
              <a:buFont typeface="Calibri"/>
              <a:buNone/>
            </a:pPr>
            <a:r>
              <a:rPr b="0" i="0" lang="en-US" sz="186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❓</a:t>
            </a:r>
            <a:endParaRPr b="0" i="0" sz="18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"/>
          <p:cNvSpPr txBox="1"/>
          <p:nvPr/>
        </p:nvSpPr>
        <p:spPr>
          <a:xfrm>
            <a:off x="45720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A45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0A458"/>
                </a:solidFill>
                <a:latin typeface="Calibri"/>
                <a:ea typeface="Calibri"/>
                <a:cs typeface="Calibri"/>
                <a:sym typeface="Calibri"/>
              </a:rPr>
              <a:t>ROADMAP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 txBox="1"/>
          <p:nvPr/>
        </p:nvSpPr>
        <p:spPr>
          <a:xfrm>
            <a:off x="457200" y="658368"/>
            <a:ext cx="86868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263B"/>
                </a:solidFill>
                <a:latin typeface="Cambria"/>
                <a:ea typeface="Cambria"/>
                <a:cs typeface="Cambria"/>
                <a:sym typeface="Cambria"/>
              </a:rPr>
              <a:t>Agenda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457200" y="1600200"/>
            <a:ext cx="3429000" cy="1051560"/>
          </a:xfrm>
          <a:prstGeom prst="roundRect">
            <a:avLst>
              <a:gd fmla="val 6957" name="adj"/>
            </a:avLst>
          </a:prstGeom>
          <a:solidFill>
            <a:srgbClr val="F4F5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2"/>
          <p:cNvSpPr txBox="1"/>
          <p:nvPr/>
        </p:nvSpPr>
        <p:spPr>
          <a:xfrm>
            <a:off x="621792" y="1737360"/>
            <a:ext cx="822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A458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E0A458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 txBox="1"/>
          <p:nvPr/>
        </p:nvSpPr>
        <p:spPr>
          <a:xfrm>
            <a:off x="621792" y="2167128"/>
            <a:ext cx="309981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4114800" y="1600200"/>
            <a:ext cx="3429000" cy="1051560"/>
          </a:xfrm>
          <a:prstGeom prst="roundRect">
            <a:avLst>
              <a:gd fmla="val 6957" name="adj"/>
            </a:avLst>
          </a:prstGeom>
          <a:solidFill>
            <a:srgbClr val="F4F5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2"/>
          <p:cNvSpPr txBox="1"/>
          <p:nvPr/>
        </p:nvSpPr>
        <p:spPr>
          <a:xfrm>
            <a:off x="4279392" y="1737360"/>
            <a:ext cx="822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A458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E0A458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 txBox="1"/>
          <p:nvPr/>
        </p:nvSpPr>
        <p:spPr>
          <a:xfrm>
            <a:off x="4279392" y="2167128"/>
            <a:ext cx="309981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Business Problem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7772400" y="1600200"/>
            <a:ext cx="3429000" cy="1051560"/>
          </a:xfrm>
          <a:prstGeom prst="roundRect">
            <a:avLst>
              <a:gd fmla="val 6957" name="adj"/>
            </a:avLst>
          </a:prstGeom>
          <a:solidFill>
            <a:srgbClr val="F4F5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2"/>
          <p:cNvSpPr txBox="1"/>
          <p:nvPr/>
        </p:nvSpPr>
        <p:spPr>
          <a:xfrm>
            <a:off x="7936992" y="1737360"/>
            <a:ext cx="822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A458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E0A458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 txBox="1"/>
          <p:nvPr/>
        </p:nvSpPr>
        <p:spPr>
          <a:xfrm>
            <a:off x="7936992" y="2167128"/>
            <a:ext cx="309981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Dataset Overview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457200" y="2852928"/>
            <a:ext cx="3429000" cy="1051560"/>
          </a:xfrm>
          <a:prstGeom prst="roundRect">
            <a:avLst>
              <a:gd fmla="val 6957" name="adj"/>
            </a:avLst>
          </a:prstGeom>
          <a:solidFill>
            <a:srgbClr val="F4F5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2"/>
          <p:cNvSpPr txBox="1"/>
          <p:nvPr/>
        </p:nvSpPr>
        <p:spPr>
          <a:xfrm>
            <a:off x="621792" y="2990088"/>
            <a:ext cx="822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A458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E0A458"/>
                </a:solidFill>
                <a:latin typeface="Cambria"/>
                <a:ea typeface="Cambria"/>
                <a:cs typeface="Cambria"/>
                <a:sym typeface="Cambria"/>
              </a:rPr>
              <a:t>04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 txBox="1"/>
          <p:nvPr/>
        </p:nvSpPr>
        <p:spPr>
          <a:xfrm>
            <a:off x="621792" y="3419856"/>
            <a:ext cx="309981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Data Preprocessing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4114800" y="2852928"/>
            <a:ext cx="3429000" cy="1051560"/>
          </a:xfrm>
          <a:prstGeom prst="roundRect">
            <a:avLst>
              <a:gd fmla="val 6957" name="adj"/>
            </a:avLst>
          </a:prstGeom>
          <a:solidFill>
            <a:srgbClr val="F4F5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2"/>
          <p:cNvSpPr txBox="1"/>
          <p:nvPr/>
        </p:nvSpPr>
        <p:spPr>
          <a:xfrm>
            <a:off x="4279392" y="2990088"/>
            <a:ext cx="822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A458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E0A458"/>
                </a:solidFill>
                <a:latin typeface="Cambria"/>
                <a:ea typeface="Cambria"/>
                <a:cs typeface="Cambria"/>
                <a:sym typeface="Cambria"/>
              </a:rPr>
              <a:t>05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 txBox="1"/>
          <p:nvPr/>
        </p:nvSpPr>
        <p:spPr>
          <a:xfrm>
            <a:off x="4279392" y="3419856"/>
            <a:ext cx="309981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Tokenization Strategy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7772400" y="2852928"/>
            <a:ext cx="3429000" cy="1051560"/>
          </a:xfrm>
          <a:prstGeom prst="roundRect">
            <a:avLst>
              <a:gd fmla="val 6957" name="adj"/>
            </a:avLst>
          </a:prstGeom>
          <a:solidFill>
            <a:srgbClr val="F4F5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2"/>
          <p:cNvSpPr txBox="1"/>
          <p:nvPr/>
        </p:nvSpPr>
        <p:spPr>
          <a:xfrm>
            <a:off x="7936992" y="2990088"/>
            <a:ext cx="822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A458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E0A458"/>
                </a:solidFill>
                <a:latin typeface="Cambria"/>
                <a:ea typeface="Cambria"/>
                <a:cs typeface="Cambria"/>
                <a:sym typeface="Cambria"/>
              </a:rPr>
              <a:t>06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 txBox="1"/>
          <p:nvPr/>
        </p:nvSpPr>
        <p:spPr>
          <a:xfrm>
            <a:off x="7936992" y="3419856"/>
            <a:ext cx="309981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Model Architecture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457200" y="4105656"/>
            <a:ext cx="3429000" cy="1051560"/>
          </a:xfrm>
          <a:prstGeom prst="roundRect">
            <a:avLst>
              <a:gd fmla="val 6957" name="adj"/>
            </a:avLst>
          </a:prstGeom>
          <a:solidFill>
            <a:srgbClr val="F4F5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2"/>
          <p:cNvSpPr txBox="1"/>
          <p:nvPr/>
        </p:nvSpPr>
        <p:spPr>
          <a:xfrm>
            <a:off x="621792" y="4242816"/>
            <a:ext cx="822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A458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E0A458"/>
                </a:solidFill>
                <a:latin typeface="Cambria"/>
                <a:ea typeface="Cambria"/>
                <a:cs typeface="Cambria"/>
                <a:sym typeface="Cambria"/>
              </a:rPr>
              <a:t>07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 txBox="1"/>
          <p:nvPr/>
        </p:nvSpPr>
        <p:spPr>
          <a:xfrm>
            <a:off x="621792" y="4672584"/>
            <a:ext cx="309981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Model Training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4114800" y="4105656"/>
            <a:ext cx="3429000" cy="1051560"/>
          </a:xfrm>
          <a:prstGeom prst="roundRect">
            <a:avLst>
              <a:gd fmla="val 6957" name="adj"/>
            </a:avLst>
          </a:prstGeom>
          <a:solidFill>
            <a:srgbClr val="F4F5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2"/>
          <p:cNvSpPr txBox="1"/>
          <p:nvPr/>
        </p:nvSpPr>
        <p:spPr>
          <a:xfrm>
            <a:off x="4279392" y="4242816"/>
            <a:ext cx="822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A458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E0A458"/>
                </a:solidFill>
                <a:latin typeface="Cambria"/>
                <a:ea typeface="Cambria"/>
                <a:cs typeface="Cambria"/>
                <a:sym typeface="Cambria"/>
              </a:rPr>
              <a:t>08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2"/>
          <p:cNvSpPr txBox="1"/>
          <p:nvPr/>
        </p:nvSpPr>
        <p:spPr>
          <a:xfrm>
            <a:off x="4279392" y="4672584"/>
            <a:ext cx="309981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Model Evaluation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7772400" y="4105656"/>
            <a:ext cx="3429000" cy="1051560"/>
          </a:xfrm>
          <a:prstGeom prst="roundRect">
            <a:avLst>
              <a:gd fmla="val 6957" name="adj"/>
            </a:avLst>
          </a:prstGeom>
          <a:solidFill>
            <a:srgbClr val="F4F5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2"/>
          <p:cNvSpPr txBox="1"/>
          <p:nvPr/>
        </p:nvSpPr>
        <p:spPr>
          <a:xfrm>
            <a:off x="7936992" y="4242816"/>
            <a:ext cx="822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A458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E0A458"/>
                </a:solidFill>
                <a:latin typeface="Cambria"/>
                <a:ea typeface="Cambria"/>
                <a:cs typeface="Cambria"/>
                <a:sym typeface="Cambria"/>
              </a:rPr>
              <a:t>09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2"/>
          <p:cNvSpPr txBox="1"/>
          <p:nvPr/>
        </p:nvSpPr>
        <p:spPr>
          <a:xfrm>
            <a:off x="7936992" y="4672584"/>
            <a:ext cx="309981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Sample Predictions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2"/>
          <p:cNvSpPr/>
          <p:nvPr/>
        </p:nvSpPr>
        <p:spPr>
          <a:xfrm>
            <a:off x="457200" y="5358384"/>
            <a:ext cx="3429000" cy="1051560"/>
          </a:xfrm>
          <a:prstGeom prst="roundRect">
            <a:avLst>
              <a:gd fmla="val 6957" name="adj"/>
            </a:avLst>
          </a:prstGeom>
          <a:solidFill>
            <a:srgbClr val="F4F5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2"/>
          <p:cNvSpPr txBox="1"/>
          <p:nvPr/>
        </p:nvSpPr>
        <p:spPr>
          <a:xfrm>
            <a:off x="621792" y="5495544"/>
            <a:ext cx="822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A458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E0A458"/>
                </a:solidFill>
                <a:latin typeface="Cambria"/>
                <a:ea typeface="Cambria"/>
                <a:cs typeface="Cambria"/>
                <a:sym typeface="Cambria"/>
              </a:rPr>
              <a:t>10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2"/>
          <p:cNvSpPr txBox="1"/>
          <p:nvPr/>
        </p:nvSpPr>
        <p:spPr>
          <a:xfrm>
            <a:off x="621792" y="5925312"/>
            <a:ext cx="309981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Deployment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2"/>
          <p:cNvSpPr/>
          <p:nvPr/>
        </p:nvSpPr>
        <p:spPr>
          <a:xfrm>
            <a:off x="4114800" y="5358384"/>
            <a:ext cx="3429000" cy="1051560"/>
          </a:xfrm>
          <a:prstGeom prst="roundRect">
            <a:avLst>
              <a:gd fmla="val 6957" name="adj"/>
            </a:avLst>
          </a:prstGeom>
          <a:solidFill>
            <a:srgbClr val="F4F5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2"/>
          <p:cNvSpPr txBox="1"/>
          <p:nvPr/>
        </p:nvSpPr>
        <p:spPr>
          <a:xfrm>
            <a:off x="4279392" y="5495544"/>
            <a:ext cx="822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A458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E0A458"/>
                </a:solidFill>
                <a:latin typeface="Cambria"/>
                <a:ea typeface="Cambria"/>
                <a:cs typeface="Cambria"/>
                <a:sym typeface="Cambria"/>
              </a:rPr>
              <a:t>11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2"/>
          <p:cNvSpPr txBox="1"/>
          <p:nvPr/>
        </p:nvSpPr>
        <p:spPr>
          <a:xfrm>
            <a:off x="4279392" y="5925312"/>
            <a:ext cx="309981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Challenges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2"/>
          <p:cNvSpPr/>
          <p:nvPr/>
        </p:nvSpPr>
        <p:spPr>
          <a:xfrm>
            <a:off x="7772400" y="5358384"/>
            <a:ext cx="3429000" cy="1051560"/>
          </a:xfrm>
          <a:prstGeom prst="roundRect">
            <a:avLst>
              <a:gd fmla="val 6957" name="adj"/>
            </a:avLst>
          </a:prstGeom>
          <a:solidFill>
            <a:srgbClr val="F4F5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2"/>
          <p:cNvSpPr txBox="1"/>
          <p:nvPr/>
        </p:nvSpPr>
        <p:spPr>
          <a:xfrm>
            <a:off x="7936992" y="5495544"/>
            <a:ext cx="822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A458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E0A458"/>
                </a:solidFill>
                <a:latin typeface="Cambria"/>
                <a:ea typeface="Cambria"/>
                <a:cs typeface="Cambria"/>
                <a:sym typeface="Cambria"/>
              </a:rPr>
              <a:t>12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2"/>
          <p:cNvSpPr txBox="1"/>
          <p:nvPr/>
        </p:nvSpPr>
        <p:spPr>
          <a:xfrm>
            <a:off x="7936992" y="5925312"/>
            <a:ext cx="3099816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Conclusion &amp; Future Work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2"/>
          <p:cNvSpPr txBox="1"/>
          <p:nvPr/>
        </p:nvSpPr>
        <p:spPr>
          <a:xfrm>
            <a:off x="457200" y="651052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686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2"/>
          <p:cNvSpPr txBox="1"/>
          <p:nvPr/>
        </p:nvSpPr>
        <p:spPr>
          <a:xfrm>
            <a:off x="7315200" y="6510528"/>
            <a:ext cx="44165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686"/>
                </a:solidFill>
                <a:latin typeface="Calibri"/>
                <a:ea typeface="Calibri"/>
                <a:cs typeface="Calibri"/>
                <a:sym typeface="Calibri"/>
              </a:rPr>
              <a:t>Grammar Error Detection with BERT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7" name="Google Shape;8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57265" y="6255780"/>
            <a:ext cx="2934735" cy="512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"/>
          <p:cNvSpPr txBox="1"/>
          <p:nvPr/>
        </p:nvSpPr>
        <p:spPr>
          <a:xfrm>
            <a:off x="45720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A45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0A458"/>
                </a:solidFill>
                <a:latin typeface="Calibri"/>
                <a:ea typeface="Calibri"/>
                <a:cs typeface="Calibri"/>
                <a:sym typeface="Calibri"/>
              </a:rPr>
              <a:t>PROJECT METHODOLOGY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 txBox="1"/>
          <p:nvPr/>
        </p:nvSpPr>
        <p:spPr>
          <a:xfrm>
            <a:off x="457200" y="658368"/>
            <a:ext cx="86868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263B"/>
                </a:solidFill>
                <a:latin typeface="Cambria"/>
                <a:ea typeface="Cambria"/>
                <a:cs typeface="Cambria"/>
                <a:sym typeface="Cambria"/>
              </a:rPr>
              <a:t>CRISP-ML(Q) Framework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 txBox="1"/>
          <p:nvPr/>
        </p:nvSpPr>
        <p:spPr>
          <a:xfrm>
            <a:off x="457200" y="132588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465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C4656"/>
                </a:solidFill>
                <a:latin typeface="Calibri"/>
                <a:ea typeface="Calibri"/>
                <a:cs typeface="Calibri"/>
                <a:sym typeface="Calibri"/>
              </a:rPr>
              <a:t>This project follows CRISP-ML(Q) — the Cross-Industry Standard Process for Machine Learning with Quality assurance — an iterative framework that builds quality checks into every stage.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457200" y="2011680"/>
            <a:ext cx="3611880" cy="1554480"/>
          </a:xfrm>
          <a:prstGeom prst="roundRect">
            <a:avLst>
              <a:gd fmla="val 4706" name="adj"/>
            </a:avLst>
          </a:prstGeom>
          <a:solidFill>
            <a:srgbClr val="F4F5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640080" y="2194560"/>
            <a:ext cx="457200" cy="457200"/>
          </a:xfrm>
          <a:prstGeom prst="ellipse">
            <a:avLst/>
          </a:prstGeom>
          <a:solidFill>
            <a:srgbClr val="1B26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3"/>
          <p:cNvSpPr txBox="1"/>
          <p:nvPr/>
        </p:nvSpPr>
        <p:spPr>
          <a:xfrm>
            <a:off x="640080" y="21945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 txBox="1"/>
          <p:nvPr/>
        </p:nvSpPr>
        <p:spPr>
          <a:xfrm>
            <a:off x="1234440" y="2194560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Business &amp; Data Understanding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 txBox="1"/>
          <p:nvPr/>
        </p:nvSpPr>
        <p:spPr>
          <a:xfrm>
            <a:off x="640080" y="2724912"/>
            <a:ext cx="32461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465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C4656"/>
                </a:solidFill>
                <a:latin typeface="Calibri"/>
                <a:ea typeface="Calibri"/>
                <a:cs typeface="Calibri"/>
                <a:sym typeface="Calibri"/>
              </a:rPr>
              <a:t>Define the goal — flag ungrammatical sentences and the exact wrong word — and inspect the FCE learner-essay corpus for how errors are annotated.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4251960" y="2011680"/>
            <a:ext cx="3611880" cy="1554480"/>
          </a:xfrm>
          <a:prstGeom prst="roundRect">
            <a:avLst>
              <a:gd fmla="val 4706" name="adj"/>
            </a:avLst>
          </a:prstGeom>
          <a:solidFill>
            <a:srgbClr val="F4F5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4434840" y="2194560"/>
            <a:ext cx="457200" cy="457200"/>
          </a:xfrm>
          <a:prstGeom prst="ellipse">
            <a:avLst/>
          </a:prstGeom>
          <a:solidFill>
            <a:srgbClr val="1B26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3"/>
          <p:cNvSpPr txBox="1"/>
          <p:nvPr/>
        </p:nvSpPr>
        <p:spPr>
          <a:xfrm>
            <a:off x="4434840" y="21945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"/>
          <p:cNvSpPr txBox="1"/>
          <p:nvPr/>
        </p:nvSpPr>
        <p:spPr>
          <a:xfrm>
            <a:off x="5029200" y="2194560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Data Preprocessing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4434840" y="2724912"/>
            <a:ext cx="32461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465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C4656"/>
                </a:solidFill>
                <a:latin typeface="Calibri"/>
                <a:ea typeface="Calibri"/>
                <a:cs typeface="Calibri"/>
                <a:sym typeface="Calibri"/>
              </a:rPr>
              <a:t>Split essays into sentences, label every word by whether an edit overlaps it, then filter, dedupe, and stratify-split.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8046720" y="2011680"/>
            <a:ext cx="3611880" cy="1554480"/>
          </a:xfrm>
          <a:prstGeom prst="roundRect">
            <a:avLst>
              <a:gd fmla="val 4706" name="adj"/>
            </a:avLst>
          </a:prstGeom>
          <a:solidFill>
            <a:srgbClr val="F4F5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8229600" y="2194560"/>
            <a:ext cx="457200" cy="457200"/>
          </a:xfrm>
          <a:prstGeom prst="ellipse">
            <a:avLst/>
          </a:prstGeom>
          <a:solidFill>
            <a:srgbClr val="1B26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3"/>
          <p:cNvSpPr txBox="1"/>
          <p:nvPr/>
        </p:nvSpPr>
        <p:spPr>
          <a:xfrm>
            <a:off x="8229600" y="21945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 txBox="1"/>
          <p:nvPr/>
        </p:nvSpPr>
        <p:spPr>
          <a:xfrm>
            <a:off x="8823960" y="2194560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Model Building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 txBox="1"/>
          <p:nvPr/>
        </p:nvSpPr>
        <p:spPr>
          <a:xfrm>
            <a:off x="8229600" y="2724912"/>
            <a:ext cx="32461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465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C4656"/>
                </a:solidFill>
                <a:latin typeface="Calibri"/>
                <a:ea typeface="Calibri"/>
                <a:cs typeface="Calibri"/>
                <a:sym typeface="Calibri"/>
              </a:rPr>
              <a:t>Fine-tune a pretrained distilbert-base-uncased for token classification — a CORRECT / INCORRECT label for every word.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457200" y="3794760"/>
            <a:ext cx="3611880" cy="1554480"/>
          </a:xfrm>
          <a:prstGeom prst="roundRect">
            <a:avLst>
              <a:gd fmla="val 4706" name="adj"/>
            </a:avLst>
          </a:prstGeom>
          <a:solidFill>
            <a:srgbClr val="F4F5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640080" y="3977640"/>
            <a:ext cx="457200" cy="457200"/>
          </a:xfrm>
          <a:prstGeom prst="ellipse">
            <a:avLst/>
          </a:prstGeom>
          <a:solidFill>
            <a:srgbClr val="1B26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3"/>
          <p:cNvSpPr txBox="1"/>
          <p:nvPr/>
        </p:nvSpPr>
        <p:spPr>
          <a:xfrm>
            <a:off x="640080" y="39776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 txBox="1"/>
          <p:nvPr/>
        </p:nvSpPr>
        <p:spPr>
          <a:xfrm>
            <a:off x="1234440" y="3977640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ML Model Evaluation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3"/>
          <p:cNvSpPr txBox="1"/>
          <p:nvPr/>
        </p:nvSpPr>
        <p:spPr>
          <a:xfrm>
            <a:off x="640080" y="4507992"/>
            <a:ext cx="32461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465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C4656"/>
                </a:solidFill>
                <a:latin typeface="Calibri"/>
                <a:ea typeface="Calibri"/>
                <a:cs typeface="Calibri"/>
                <a:sym typeface="Calibri"/>
              </a:rPr>
              <a:t>Assess word-level accuracy, per-class precision/recall/F1, and macro F1 against a quality bar before release.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4251960" y="3794760"/>
            <a:ext cx="3611880" cy="1554480"/>
          </a:xfrm>
          <a:prstGeom prst="roundRect">
            <a:avLst>
              <a:gd fmla="val 4706" name="adj"/>
            </a:avLst>
          </a:prstGeom>
          <a:solidFill>
            <a:srgbClr val="F4F5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3"/>
          <p:cNvSpPr/>
          <p:nvPr/>
        </p:nvSpPr>
        <p:spPr>
          <a:xfrm>
            <a:off x="4434840" y="3977640"/>
            <a:ext cx="457200" cy="457200"/>
          </a:xfrm>
          <a:prstGeom prst="ellipse">
            <a:avLst/>
          </a:prstGeom>
          <a:solidFill>
            <a:srgbClr val="1B26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3"/>
          <p:cNvSpPr txBox="1"/>
          <p:nvPr/>
        </p:nvSpPr>
        <p:spPr>
          <a:xfrm>
            <a:off x="4434840" y="39776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3"/>
          <p:cNvSpPr txBox="1"/>
          <p:nvPr/>
        </p:nvSpPr>
        <p:spPr>
          <a:xfrm>
            <a:off x="5029200" y="3977640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Deployment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3"/>
          <p:cNvSpPr txBox="1"/>
          <p:nvPr/>
        </p:nvSpPr>
        <p:spPr>
          <a:xfrm>
            <a:off x="4434840" y="4507992"/>
            <a:ext cx="32461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465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C4656"/>
                </a:solidFill>
                <a:latin typeface="Calibri"/>
                <a:ea typeface="Calibri"/>
                <a:cs typeface="Calibri"/>
                <a:sym typeface="Calibri"/>
              </a:rPr>
              <a:t>Save the model and tokenizer, then serve them in a Streamlit app that highlights the flagged words.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3"/>
          <p:cNvSpPr/>
          <p:nvPr/>
        </p:nvSpPr>
        <p:spPr>
          <a:xfrm>
            <a:off x="8046720" y="3794760"/>
            <a:ext cx="3611880" cy="1554480"/>
          </a:xfrm>
          <a:prstGeom prst="roundRect">
            <a:avLst>
              <a:gd fmla="val 4706" name="adj"/>
            </a:avLst>
          </a:prstGeom>
          <a:solidFill>
            <a:srgbClr val="F4F5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3"/>
          <p:cNvSpPr/>
          <p:nvPr/>
        </p:nvSpPr>
        <p:spPr>
          <a:xfrm>
            <a:off x="8229600" y="3977640"/>
            <a:ext cx="457200" cy="457200"/>
          </a:xfrm>
          <a:prstGeom prst="ellipse">
            <a:avLst/>
          </a:prstGeom>
          <a:solidFill>
            <a:srgbClr val="1B26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3"/>
          <p:cNvSpPr txBox="1"/>
          <p:nvPr/>
        </p:nvSpPr>
        <p:spPr>
          <a:xfrm>
            <a:off x="8229600" y="39776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3"/>
          <p:cNvSpPr txBox="1"/>
          <p:nvPr/>
        </p:nvSpPr>
        <p:spPr>
          <a:xfrm>
            <a:off x="8823960" y="3977640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Monitoring &amp; Maintenance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3"/>
          <p:cNvSpPr txBox="1"/>
          <p:nvPr/>
        </p:nvSpPr>
        <p:spPr>
          <a:xfrm>
            <a:off x="8229600" y="4507992"/>
            <a:ext cx="32461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465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C4656"/>
                </a:solidFill>
                <a:latin typeface="Calibri"/>
                <a:ea typeface="Calibri"/>
                <a:cs typeface="Calibri"/>
                <a:sym typeface="Calibri"/>
              </a:rPr>
              <a:t>Track live predictions for gaps (e.g. missed errors, low INCORRECT recall) and extend the model as needed.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3"/>
          <p:cNvSpPr txBox="1"/>
          <p:nvPr/>
        </p:nvSpPr>
        <p:spPr>
          <a:xfrm>
            <a:off x="457200" y="651052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686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3"/>
          <p:cNvSpPr txBox="1"/>
          <p:nvPr/>
        </p:nvSpPr>
        <p:spPr>
          <a:xfrm>
            <a:off x="7315200" y="6510528"/>
            <a:ext cx="44165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686"/>
                </a:solidFill>
                <a:latin typeface="Calibri"/>
                <a:ea typeface="Calibri"/>
                <a:cs typeface="Calibri"/>
                <a:sym typeface="Calibri"/>
              </a:rPr>
              <a:t>Grammar Error Detection with BERT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8" name="Google Shape;12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57265" y="6255780"/>
            <a:ext cx="2934735" cy="512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"/>
          <p:cNvSpPr txBox="1"/>
          <p:nvPr/>
        </p:nvSpPr>
        <p:spPr>
          <a:xfrm>
            <a:off x="45720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A45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0A458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 txBox="1"/>
          <p:nvPr/>
        </p:nvSpPr>
        <p:spPr>
          <a:xfrm>
            <a:off x="457200" y="658368"/>
            <a:ext cx="86868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263B"/>
                </a:solidFill>
                <a:latin typeface="Cambria"/>
                <a:ea typeface="Cambria"/>
                <a:cs typeface="Cambria"/>
                <a:sym typeface="Cambria"/>
              </a:rPr>
              <a:t>Why Grammar Error Detection Matters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 txBox="1"/>
          <p:nvPr/>
        </p:nvSpPr>
        <p:spPr>
          <a:xfrm>
            <a:off x="457200" y="1325880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4656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3C4656"/>
                </a:solidFill>
                <a:latin typeface="Calibri"/>
                <a:ea typeface="Calibri"/>
                <a:cs typeface="Calibri"/>
                <a:sym typeface="Calibri"/>
              </a:rPr>
              <a:t>Bad grammar undermines writing before a reader gets to the ideas inside it. This project builds a model that reads a sentence and predicts whether it is grammatically CORRECT or INCORRECT — and which word is wrong.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457200" y="2148840"/>
            <a:ext cx="5394960" cy="1051560"/>
          </a:xfrm>
          <a:prstGeom prst="roundRect">
            <a:avLst>
              <a:gd fmla="val 6957" name="adj"/>
            </a:avLst>
          </a:prstGeom>
          <a:solidFill>
            <a:srgbClr val="F4F5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685800" y="2331720"/>
            <a:ext cx="685800" cy="685800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4"/>
          <p:cNvSpPr txBox="1"/>
          <p:nvPr/>
        </p:nvSpPr>
        <p:spPr>
          <a:xfrm>
            <a:off x="685800" y="2331720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✅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 txBox="1"/>
          <p:nvPr/>
        </p:nvSpPr>
        <p:spPr>
          <a:xfrm>
            <a:off x="1554480" y="2148840"/>
            <a:ext cx="41148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She goes to school every day.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6080760" y="2148840"/>
            <a:ext cx="5394960" cy="1051560"/>
          </a:xfrm>
          <a:prstGeom prst="roundRect">
            <a:avLst>
              <a:gd fmla="val 6957" name="adj"/>
            </a:avLst>
          </a:prstGeom>
          <a:solidFill>
            <a:srgbClr val="F4F5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6309360" y="2331720"/>
            <a:ext cx="685800" cy="685800"/>
          </a:xfrm>
          <a:prstGeom prst="ellipse">
            <a:avLst/>
          </a:prstGeom>
          <a:solidFill>
            <a:srgbClr val="B529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4"/>
          <p:cNvSpPr txBox="1"/>
          <p:nvPr/>
        </p:nvSpPr>
        <p:spPr>
          <a:xfrm>
            <a:off x="6309360" y="2331720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❌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 txBox="1"/>
          <p:nvPr/>
        </p:nvSpPr>
        <p:spPr>
          <a:xfrm>
            <a:off x="7178040" y="2148840"/>
            <a:ext cx="41148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She go to school every day.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4"/>
          <p:cNvSpPr txBox="1"/>
          <p:nvPr/>
        </p:nvSpPr>
        <p:spPr>
          <a:xfrm>
            <a:off x="457200" y="352044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A45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0A458"/>
                </a:solidFill>
                <a:latin typeface="Calibri"/>
                <a:ea typeface="Calibri"/>
                <a:cs typeface="Calibri"/>
                <a:sym typeface="Calibri"/>
              </a:rPr>
              <a:t>About the Corpus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 txBox="1"/>
          <p:nvPr/>
        </p:nvSpPr>
        <p:spPr>
          <a:xfrm>
            <a:off x="457200" y="3886200"/>
            <a:ext cx="36576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465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C4656"/>
                </a:solidFill>
                <a:latin typeface="Calibri"/>
                <a:ea typeface="Calibri"/>
                <a:cs typeface="Calibri"/>
                <a:sym typeface="Calibri"/>
              </a:rPr>
              <a:t>FCE learner-English exam essays with every human correction recorded as a character-level edit.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4"/>
          <p:cNvSpPr txBox="1"/>
          <p:nvPr/>
        </p:nvSpPr>
        <p:spPr>
          <a:xfrm>
            <a:off x="4297680" y="352044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A45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0A458"/>
                </a:solidFill>
                <a:latin typeface="Calibri"/>
                <a:ea typeface="Calibri"/>
                <a:cs typeface="Calibri"/>
                <a:sym typeface="Calibri"/>
              </a:rPr>
              <a:t>Why It's Hard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4"/>
          <p:cNvSpPr txBox="1"/>
          <p:nvPr/>
        </p:nvSpPr>
        <p:spPr>
          <a:xfrm>
            <a:off x="4297680" y="3886200"/>
            <a:ext cx="36576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465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C4656"/>
                </a:solidFill>
                <a:latin typeface="Calibri"/>
                <a:ea typeface="Calibri"/>
                <a:cs typeface="Calibri"/>
                <a:sym typeface="Calibri"/>
              </a:rPr>
              <a:t>Errors are annotated at the essay level, not per word, and only ~13% of words are actually incorrect.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4"/>
          <p:cNvSpPr txBox="1"/>
          <p:nvPr/>
        </p:nvSpPr>
        <p:spPr>
          <a:xfrm>
            <a:off x="8138160" y="352044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A45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0A458"/>
                </a:solidFill>
                <a:latin typeface="Calibri"/>
                <a:ea typeface="Calibri"/>
                <a:cs typeface="Calibri"/>
                <a:sym typeface="Calibri"/>
              </a:rPr>
              <a:t>The Goal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4"/>
          <p:cNvSpPr txBox="1"/>
          <p:nvPr/>
        </p:nvSpPr>
        <p:spPr>
          <a:xfrm>
            <a:off x="8138160" y="3886200"/>
            <a:ext cx="36576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465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C4656"/>
                </a:solidFill>
                <a:latin typeface="Calibri"/>
                <a:ea typeface="Calibri"/>
                <a:cs typeface="Calibri"/>
                <a:sym typeface="Calibri"/>
              </a:rPr>
              <a:t>Fine-tune DistilBERT to classify every word, so one model flags both the sentence and the wrong word.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4"/>
          <p:cNvSpPr txBox="1"/>
          <p:nvPr/>
        </p:nvSpPr>
        <p:spPr>
          <a:xfrm>
            <a:off x="457200" y="651052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686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4"/>
          <p:cNvSpPr txBox="1"/>
          <p:nvPr/>
        </p:nvSpPr>
        <p:spPr>
          <a:xfrm>
            <a:off x="7315200" y="6510528"/>
            <a:ext cx="44165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686"/>
                </a:solidFill>
                <a:latin typeface="Calibri"/>
                <a:ea typeface="Calibri"/>
                <a:cs typeface="Calibri"/>
                <a:sym typeface="Calibri"/>
              </a:rPr>
              <a:t>Grammar Error Detection with BERT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3" name="Google Shape;15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57265" y="6255780"/>
            <a:ext cx="2934735" cy="512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"/>
          <p:cNvSpPr txBox="1"/>
          <p:nvPr/>
        </p:nvSpPr>
        <p:spPr>
          <a:xfrm>
            <a:off x="45720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A45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0A458"/>
                </a:solidFill>
                <a:latin typeface="Calibri"/>
                <a:ea typeface="Calibri"/>
                <a:cs typeface="Calibri"/>
                <a:sym typeface="Calibri"/>
              </a:rPr>
              <a:t>BUSINESS PROBLEM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 txBox="1"/>
          <p:nvPr/>
        </p:nvSpPr>
        <p:spPr>
          <a:xfrm>
            <a:off x="457200" y="658368"/>
            <a:ext cx="86868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263B"/>
                </a:solidFill>
                <a:latin typeface="Cambria"/>
                <a:ea typeface="Cambria"/>
                <a:cs typeface="Cambria"/>
                <a:sym typeface="Cambria"/>
              </a:rPr>
              <a:t>Where Grammar Checking Creates Value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 txBox="1"/>
          <p:nvPr/>
        </p:nvSpPr>
        <p:spPr>
          <a:xfrm>
            <a:off x="457200" y="132588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465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C4656"/>
                </a:solidFill>
                <a:latin typeface="Calibri"/>
                <a:ea typeface="Calibri"/>
                <a:cs typeface="Calibri"/>
                <a:sym typeface="Calibri"/>
              </a:rPr>
              <a:t>Manually proofreading thousands of essays, emails, or support tickets doesn't scale. An automated model can flag grammar issues the moment text is written.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457200" y="2057400"/>
            <a:ext cx="2697480" cy="2103120"/>
          </a:xfrm>
          <a:prstGeom prst="roundRect">
            <a:avLst>
              <a:gd fmla="val 3478" name="adj"/>
            </a:avLst>
          </a:prstGeom>
          <a:solidFill>
            <a:srgbClr val="F4F5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685800" y="2286000"/>
            <a:ext cx="594360" cy="594360"/>
          </a:xfrm>
          <a:prstGeom prst="ellipse">
            <a:avLst/>
          </a:prstGeom>
          <a:solidFill>
            <a:srgbClr val="415A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5"/>
          <p:cNvSpPr txBox="1"/>
          <p:nvPr/>
        </p:nvSpPr>
        <p:spPr>
          <a:xfrm>
            <a:off x="685800" y="228600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✍️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5"/>
          <p:cNvSpPr txBox="1"/>
          <p:nvPr/>
        </p:nvSpPr>
        <p:spPr>
          <a:xfrm>
            <a:off x="640080" y="2971800"/>
            <a:ext cx="2331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Writing Assistants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5"/>
          <p:cNvSpPr txBox="1"/>
          <p:nvPr/>
        </p:nvSpPr>
        <p:spPr>
          <a:xfrm>
            <a:off x="640080" y="3355848"/>
            <a:ext cx="2331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465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C4656"/>
                </a:solidFill>
                <a:latin typeface="Calibri"/>
                <a:ea typeface="Calibri"/>
                <a:cs typeface="Calibri"/>
                <a:sym typeface="Calibri"/>
              </a:rPr>
              <a:t>Underline likely grammar mistakes in real time, the way a tutor would.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3337560" y="2057400"/>
            <a:ext cx="2697480" cy="2103120"/>
          </a:xfrm>
          <a:prstGeom prst="roundRect">
            <a:avLst>
              <a:gd fmla="val 3478" name="adj"/>
            </a:avLst>
          </a:prstGeom>
          <a:solidFill>
            <a:srgbClr val="F4F5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3566160" y="2286000"/>
            <a:ext cx="594360" cy="594360"/>
          </a:xfrm>
          <a:prstGeom prst="ellipse">
            <a:avLst/>
          </a:prstGeom>
          <a:solidFill>
            <a:srgbClr val="415A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5"/>
          <p:cNvSpPr txBox="1"/>
          <p:nvPr/>
        </p:nvSpPr>
        <p:spPr>
          <a:xfrm>
            <a:off x="3566160" y="228600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🎓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/>
          <p:cNvSpPr txBox="1"/>
          <p:nvPr/>
        </p:nvSpPr>
        <p:spPr>
          <a:xfrm>
            <a:off x="3520440" y="2971800"/>
            <a:ext cx="2331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 Education Tools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5"/>
          <p:cNvSpPr txBox="1"/>
          <p:nvPr/>
        </p:nvSpPr>
        <p:spPr>
          <a:xfrm>
            <a:off x="3520440" y="3355848"/>
            <a:ext cx="2331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465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C4656"/>
                </a:solidFill>
                <a:latin typeface="Calibri"/>
                <a:ea typeface="Calibri"/>
                <a:cs typeface="Calibri"/>
                <a:sym typeface="Calibri"/>
              </a:rPr>
              <a:t>Give English learners instant, judgment-free feedback on their sentences.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6217920" y="2057400"/>
            <a:ext cx="2697480" cy="2103120"/>
          </a:xfrm>
          <a:prstGeom prst="roundRect">
            <a:avLst>
              <a:gd fmla="val 3478" name="adj"/>
            </a:avLst>
          </a:prstGeom>
          <a:solidFill>
            <a:srgbClr val="F4F5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6446520" y="2286000"/>
            <a:ext cx="594360" cy="594360"/>
          </a:xfrm>
          <a:prstGeom prst="ellipse">
            <a:avLst/>
          </a:prstGeom>
          <a:solidFill>
            <a:srgbClr val="415A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5"/>
          <p:cNvSpPr txBox="1"/>
          <p:nvPr/>
        </p:nvSpPr>
        <p:spPr>
          <a:xfrm>
            <a:off x="6446520" y="228600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🎧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5"/>
          <p:cNvSpPr txBox="1"/>
          <p:nvPr/>
        </p:nvSpPr>
        <p:spPr>
          <a:xfrm>
            <a:off x="6400800" y="2971800"/>
            <a:ext cx="2331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Support &amp; Content QA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5"/>
          <p:cNvSpPr txBox="1"/>
          <p:nvPr/>
        </p:nvSpPr>
        <p:spPr>
          <a:xfrm>
            <a:off x="6400800" y="3355848"/>
            <a:ext cx="2331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465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C4656"/>
                </a:solidFill>
                <a:latin typeface="Calibri"/>
                <a:ea typeface="Calibri"/>
                <a:cs typeface="Calibri"/>
                <a:sym typeface="Calibri"/>
              </a:rPr>
              <a:t>Flag poorly-written tickets or listings for review before they reach customers.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/>
          <p:cNvSpPr/>
          <p:nvPr/>
        </p:nvSpPr>
        <p:spPr>
          <a:xfrm>
            <a:off x="9098280" y="2057400"/>
            <a:ext cx="2697480" cy="2103120"/>
          </a:xfrm>
          <a:prstGeom prst="roundRect">
            <a:avLst>
              <a:gd fmla="val 3478" name="adj"/>
            </a:avLst>
          </a:prstGeom>
          <a:solidFill>
            <a:srgbClr val="F4F5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5"/>
          <p:cNvSpPr/>
          <p:nvPr/>
        </p:nvSpPr>
        <p:spPr>
          <a:xfrm>
            <a:off x="9326880" y="2286000"/>
            <a:ext cx="594360" cy="594360"/>
          </a:xfrm>
          <a:prstGeom prst="ellipse">
            <a:avLst/>
          </a:prstGeom>
          <a:solidFill>
            <a:srgbClr val="415A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5"/>
          <p:cNvSpPr txBox="1"/>
          <p:nvPr/>
        </p:nvSpPr>
        <p:spPr>
          <a:xfrm>
            <a:off x="9326880" y="228600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📰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5"/>
          <p:cNvSpPr txBox="1"/>
          <p:nvPr/>
        </p:nvSpPr>
        <p:spPr>
          <a:xfrm>
            <a:off x="9281160" y="2971800"/>
            <a:ext cx="2331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Publishing &amp; Editing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5"/>
          <p:cNvSpPr txBox="1"/>
          <p:nvPr/>
        </p:nvSpPr>
        <p:spPr>
          <a:xfrm>
            <a:off x="9281160" y="3355848"/>
            <a:ext cx="2331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465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C4656"/>
                </a:solidFill>
                <a:latin typeface="Calibri"/>
                <a:ea typeface="Calibri"/>
                <a:cs typeface="Calibri"/>
                <a:sym typeface="Calibri"/>
              </a:rPr>
              <a:t>Pre-screen submissions so human editors focus on style, not typos.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5"/>
          <p:cNvSpPr/>
          <p:nvPr/>
        </p:nvSpPr>
        <p:spPr>
          <a:xfrm>
            <a:off x="457200" y="4434840"/>
            <a:ext cx="11274552" cy="685800"/>
          </a:xfrm>
          <a:prstGeom prst="roundRect">
            <a:avLst>
              <a:gd fmla="val 10667" name="adj"/>
            </a:avLst>
          </a:prstGeom>
          <a:solidFill>
            <a:srgbClr val="1B26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5"/>
          <p:cNvSpPr txBox="1"/>
          <p:nvPr/>
        </p:nvSpPr>
        <p:spPr>
          <a:xfrm>
            <a:off x="685800" y="4434840"/>
            <a:ext cx="10817352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Goal:  Predict whether a sentence is grammatically CORRECT or INCORRECT and at which word the error is, and deploy it as a live prediction tool.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5"/>
          <p:cNvSpPr txBox="1"/>
          <p:nvPr/>
        </p:nvSpPr>
        <p:spPr>
          <a:xfrm>
            <a:off x="457200" y="651052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686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5"/>
          <p:cNvSpPr txBox="1"/>
          <p:nvPr/>
        </p:nvSpPr>
        <p:spPr>
          <a:xfrm>
            <a:off x="7315200" y="6510528"/>
            <a:ext cx="44165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686"/>
                </a:solidFill>
                <a:latin typeface="Calibri"/>
                <a:ea typeface="Calibri"/>
                <a:cs typeface="Calibri"/>
                <a:sym typeface="Calibri"/>
              </a:rPr>
              <a:t>Grammar Error Detection with BERT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6" name="Google Shape;18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57265" y="6255780"/>
            <a:ext cx="2934735" cy="512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6"/>
          <p:cNvSpPr txBox="1"/>
          <p:nvPr/>
        </p:nvSpPr>
        <p:spPr>
          <a:xfrm>
            <a:off x="45720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A45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0A458"/>
                </a:solidFill>
                <a:latin typeface="Calibri"/>
                <a:ea typeface="Calibri"/>
                <a:cs typeface="Calibri"/>
                <a:sym typeface="Calibri"/>
              </a:rPr>
              <a:t>DATA DESCRIPTION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6"/>
          <p:cNvSpPr txBox="1"/>
          <p:nvPr/>
        </p:nvSpPr>
        <p:spPr>
          <a:xfrm>
            <a:off x="457200" y="658368"/>
            <a:ext cx="86868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263B"/>
                </a:solidFill>
                <a:latin typeface="Cambria"/>
                <a:ea typeface="Cambria"/>
                <a:cs typeface="Cambria"/>
                <a:sym typeface="Cambria"/>
              </a:rPr>
              <a:t>Dataset Overview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6"/>
          <p:cNvSpPr txBox="1"/>
          <p:nvPr/>
        </p:nvSpPr>
        <p:spPr>
          <a:xfrm>
            <a:off x="457200" y="1463040"/>
            <a:ext cx="2651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263B"/>
                </a:solidFill>
                <a:latin typeface="Cambria"/>
                <a:ea typeface="Cambria"/>
                <a:cs typeface="Cambria"/>
                <a:sym typeface="Cambria"/>
              </a:rPr>
              <a:t>25,596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6"/>
          <p:cNvSpPr txBox="1"/>
          <p:nvPr/>
        </p:nvSpPr>
        <p:spPr>
          <a:xfrm>
            <a:off x="457200" y="2084832"/>
            <a:ext cx="2651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B7686"/>
                </a:solidFill>
                <a:latin typeface="Calibri"/>
                <a:ea typeface="Calibri"/>
                <a:cs typeface="Calibri"/>
                <a:sym typeface="Calibri"/>
              </a:rPr>
              <a:t>Sentences after splitting essays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6"/>
          <p:cNvSpPr txBox="1"/>
          <p:nvPr/>
        </p:nvSpPr>
        <p:spPr>
          <a:xfrm>
            <a:off x="3291840" y="1463040"/>
            <a:ext cx="2651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263B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6"/>
          <p:cNvSpPr txBox="1"/>
          <p:nvPr/>
        </p:nvSpPr>
        <p:spPr>
          <a:xfrm>
            <a:off x="3291840" y="2084832"/>
            <a:ext cx="2651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B7686"/>
                </a:solidFill>
                <a:latin typeface="Calibri"/>
                <a:ea typeface="Calibri"/>
                <a:cs typeface="Calibri"/>
                <a:sym typeface="Calibri"/>
              </a:rPr>
              <a:t>Classes: CORRECT / INCORRECT (389,696 words)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6"/>
          <p:cNvSpPr txBox="1"/>
          <p:nvPr/>
        </p:nvSpPr>
        <p:spPr>
          <a:xfrm>
            <a:off x="6126480" y="1463040"/>
            <a:ext cx="2651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263B"/>
                </a:solidFill>
                <a:latin typeface="Cambria"/>
                <a:ea typeface="Cambria"/>
                <a:cs typeface="Cambria"/>
                <a:sym typeface="Cambria"/>
              </a:rPr>
              <a:t>21,756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6"/>
          <p:cNvSpPr txBox="1"/>
          <p:nvPr/>
        </p:nvSpPr>
        <p:spPr>
          <a:xfrm>
            <a:off x="6126480" y="2084832"/>
            <a:ext cx="2651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B7686"/>
                </a:solidFill>
                <a:latin typeface="Calibri"/>
                <a:ea typeface="Calibri"/>
                <a:cs typeface="Calibri"/>
                <a:sym typeface="Calibri"/>
              </a:rPr>
              <a:t>Training sentences (85%)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6"/>
          <p:cNvSpPr txBox="1"/>
          <p:nvPr/>
        </p:nvSpPr>
        <p:spPr>
          <a:xfrm>
            <a:off x="8961120" y="1463040"/>
            <a:ext cx="2651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263B"/>
                </a:solidFill>
                <a:latin typeface="Cambria"/>
                <a:ea typeface="Cambria"/>
                <a:cs typeface="Cambria"/>
                <a:sym typeface="Cambria"/>
              </a:rPr>
              <a:t>3,840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6"/>
          <p:cNvSpPr txBox="1"/>
          <p:nvPr/>
        </p:nvSpPr>
        <p:spPr>
          <a:xfrm>
            <a:off x="8961120" y="2084832"/>
            <a:ext cx="2651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B7686"/>
                </a:solidFill>
                <a:latin typeface="Calibri"/>
                <a:ea typeface="Calibri"/>
                <a:cs typeface="Calibri"/>
                <a:sym typeface="Calibri"/>
              </a:rPr>
              <a:t>Test sentences (15%)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6"/>
          <p:cNvSpPr txBox="1"/>
          <p:nvPr/>
        </p:nvSpPr>
        <p:spPr>
          <a:xfrm>
            <a:off x="457200" y="288036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Sentence Distribution — All Labeled Sentences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03" name="Google Shape;203;p6"/>
          <p:cNvGraphicFramePr/>
          <p:nvPr/>
        </p:nvGraphicFramePr>
        <p:xfrm>
          <a:off x="457200" y="3246120"/>
          <a:ext cx="5486400" cy="306324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204" name="Google Shape;204;p6"/>
          <p:cNvSpPr txBox="1"/>
          <p:nvPr/>
        </p:nvSpPr>
        <p:spPr>
          <a:xfrm>
            <a:off x="6309360" y="288036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Source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6"/>
          <p:cNvSpPr txBox="1"/>
          <p:nvPr/>
        </p:nvSpPr>
        <p:spPr>
          <a:xfrm>
            <a:off x="6309360" y="3291840"/>
            <a:ext cx="53949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465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3C4656"/>
                </a:solidFill>
                <a:latin typeface="Calibri"/>
                <a:ea typeface="Calibri"/>
                <a:cs typeface="Calibri"/>
                <a:sym typeface="Calibri"/>
              </a:rPr>
              <a:t>•  FCE (Cambridge First Certificate in English) learner-essay corpus, annotated with character-level human corrections.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6"/>
          <p:cNvSpPr txBox="1"/>
          <p:nvPr/>
        </p:nvSpPr>
        <p:spPr>
          <a:xfrm>
            <a:off x="6309360" y="4251960"/>
            <a:ext cx="53949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465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3C4656"/>
                </a:solidFill>
                <a:latin typeface="Calibri"/>
                <a:ea typeface="Calibri"/>
                <a:cs typeface="Calibri"/>
                <a:sym typeface="Calibri"/>
              </a:rPr>
              <a:t>•  Each essay is split into sentences and words; a word is INCORRECT only if an edit overlaps it, and a sentence is INCORRECT if any word is.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6"/>
          <p:cNvSpPr txBox="1"/>
          <p:nvPr/>
        </p:nvSpPr>
        <p:spPr>
          <a:xfrm>
            <a:off x="6309360" y="5212080"/>
            <a:ext cx="53949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465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3C4656"/>
                </a:solidFill>
                <a:latin typeface="Calibri"/>
                <a:ea typeface="Calibri"/>
                <a:cs typeface="Calibri"/>
                <a:sym typeface="Calibri"/>
              </a:rPr>
              <a:t>•  INCORRECT sentences outnumber CORRECT ones ~1.9:1, but at word level only 12.9% (50,253) of words are incorrect.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6"/>
          <p:cNvSpPr txBox="1"/>
          <p:nvPr/>
        </p:nvSpPr>
        <p:spPr>
          <a:xfrm>
            <a:off x="457200" y="651052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686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6"/>
          <p:cNvSpPr txBox="1"/>
          <p:nvPr/>
        </p:nvSpPr>
        <p:spPr>
          <a:xfrm>
            <a:off x="7315200" y="6510528"/>
            <a:ext cx="44165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686"/>
                </a:solidFill>
                <a:latin typeface="Calibri"/>
                <a:ea typeface="Calibri"/>
                <a:cs typeface="Calibri"/>
                <a:sym typeface="Calibri"/>
              </a:rPr>
              <a:t>Grammar Error Detection with BERT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0" name="Google Shape;21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57265" y="6255780"/>
            <a:ext cx="2934735" cy="512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7"/>
          <p:cNvSpPr txBox="1"/>
          <p:nvPr/>
        </p:nvSpPr>
        <p:spPr>
          <a:xfrm>
            <a:off x="45720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A45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0A458"/>
                </a:solidFill>
                <a:latin typeface="Calibri"/>
                <a:ea typeface="Calibri"/>
                <a:cs typeface="Calibri"/>
                <a:sym typeface="Calibri"/>
              </a:rPr>
              <a:t>DATA PREPROCESSING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7"/>
          <p:cNvSpPr txBox="1"/>
          <p:nvPr/>
        </p:nvSpPr>
        <p:spPr>
          <a:xfrm>
            <a:off x="457200" y="658368"/>
            <a:ext cx="86868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263B"/>
                </a:solidFill>
                <a:latin typeface="Cambria"/>
                <a:ea typeface="Cambria"/>
                <a:cs typeface="Cambria"/>
                <a:sym typeface="Cambria"/>
              </a:rPr>
              <a:t>From Essays to Labeled Words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7"/>
          <p:cNvSpPr/>
          <p:nvPr/>
        </p:nvSpPr>
        <p:spPr>
          <a:xfrm>
            <a:off x="457200" y="1417320"/>
            <a:ext cx="11274552" cy="1024128"/>
          </a:xfrm>
          <a:prstGeom prst="roundRect">
            <a:avLst>
              <a:gd fmla="val 7143" name="adj"/>
            </a:avLst>
          </a:prstGeom>
          <a:solidFill>
            <a:srgbClr val="F4F5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658368" y="1673352"/>
            <a:ext cx="512064" cy="512064"/>
          </a:xfrm>
          <a:prstGeom prst="ellipse">
            <a:avLst/>
          </a:prstGeom>
          <a:solidFill>
            <a:srgbClr val="E0A45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7"/>
          <p:cNvSpPr txBox="1"/>
          <p:nvPr/>
        </p:nvSpPr>
        <p:spPr>
          <a:xfrm>
            <a:off x="658368" y="1673352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7"/>
          <p:cNvSpPr txBox="1"/>
          <p:nvPr/>
        </p:nvSpPr>
        <p:spPr>
          <a:xfrm>
            <a:off x="1371600" y="1527048"/>
            <a:ext cx="28346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Split into Sentences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7"/>
          <p:cNvSpPr txBox="1"/>
          <p:nvPr/>
        </p:nvSpPr>
        <p:spPr>
          <a:xfrm>
            <a:off x="4343400" y="1527048"/>
            <a:ext cx="72237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465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3C4656"/>
                </a:solidFill>
                <a:latin typeface="Calibri"/>
                <a:ea typeface="Calibri"/>
                <a:cs typeface="Calibri"/>
                <a:sym typeface="Calibri"/>
              </a:rPr>
              <a:t>A lightweight regex splitter breaks each essay into sentences and records each one's character start/end position.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7"/>
          <p:cNvSpPr/>
          <p:nvPr/>
        </p:nvSpPr>
        <p:spPr>
          <a:xfrm>
            <a:off x="457200" y="2624328"/>
            <a:ext cx="11274552" cy="1024128"/>
          </a:xfrm>
          <a:prstGeom prst="roundRect">
            <a:avLst>
              <a:gd fmla="val 7143" name="adj"/>
            </a:avLst>
          </a:prstGeom>
          <a:solidFill>
            <a:srgbClr val="F4F5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7"/>
          <p:cNvSpPr/>
          <p:nvPr/>
        </p:nvSpPr>
        <p:spPr>
          <a:xfrm>
            <a:off x="658368" y="2880360"/>
            <a:ext cx="512064" cy="512064"/>
          </a:xfrm>
          <a:prstGeom prst="ellipse">
            <a:avLst/>
          </a:prstGeom>
          <a:solidFill>
            <a:srgbClr val="E0A45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7"/>
          <p:cNvSpPr txBox="1"/>
          <p:nvPr/>
        </p:nvSpPr>
        <p:spPr>
          <a:xfrm>
            <a:off x="658368" y="2880360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7"/>
          <p:cNvSpPr txBox="1"/>
          <p:nvPr/>
        </p:nvSpPr>
        <p:spPr>
          <a:xfrm>
            <a:off x="1371600" y="2734056"/>
            <a:ext cx="28346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Extract Edit Spans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7"/>
          <p:cNvSpPr txBox="1"/>
          <p:nvPr/>
        </p:nvSpPr>
        <p:spPr>
          <a:xfrm>
            <a:off x="4343400" y="2734056"/>
            <a:ext cx="72237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465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3C4656"/>
                </a:solidFill>
                <a:latin typeface="Calibri"/>
                <a:ea typeface="Calibri"/>
                <a:cs typeface="Calibri"/>
                <a:sym typeface="Calibri"/>
              </a:rPr>
              <a:t>Each annotator correction in the raw data has a (start, end) character span marking exactly where a mistake was made.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7"/>
          <p:cNvSpPr/>
          <p:nvPr/>
        </p:nvSpPr>
        <p:spPr>
          <a:xfrm>
            <a:off x="457200" y="3831336"/>
            <a:ext cx="11274552" cy="1024128"/>
          </a:xfrm>
          <a:prstGeom prst="roundRect">
            <a:avLst>
              <a:gd fmla="val 7143" name="adj"/>
            </a:avLst>
          </a:prstGeom>
          <a:solidFill>
            <a:srgbClr val="F4F5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7"/>
          <p:cNvSpPr/>
          <p:nvPr/>
        </p:nvSpPr>
        <p:spPr>
          <a:xfrm>
            <a:off x="658368" y="4087368"/>
            <a:ext cx="512064" cy="512064"/>
          </a:xfrm>
          <a:prstGeom prst="ellipse">
            <a:avLst/>
          </a:prstGeom>
          <a:solidFill>
            <a:srgbClr val="E0A45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7"/>
          <p:cNvSpPr txBox="1"/>
          <p:nvPr/>
        </p:nvSpPr>
        <p:spPr>
          <a:xfrm>
            <a:off x="658368" y="4087368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7"/>
          <p:cNvSpPr txBox="1"/>
          <p:nvPr/>
        </p:nvSpPr>
        <p:spPr>
          <a:xfrm>
            <a:off x="1371600" y="3941064"/>
            <a:ext cx="28346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Label Every Word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7"/>
          <p:cNvSpPr txBox="1"/>
          <p:nvPr/>
        </p:nvSpPr>
        <p:spPr>
          <a:xfrm>
            <a:off x="4343400" y="3941064"/>
            <a:ext cx="72237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465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3C4656"/>
                </a:solidFill>
                <a:latin typeface="Calibri"/>
                <a:ea typeface="Calibri"/>
                <a:cs typeface="Calibri"/>
                <a:sym typeface="Calibri"/>
              </a:rPr>
              <a:t>Each sentence is split into words (with character positions); a word is tagged 1 (incorrect) only if an edit span overlaps it, else 0.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7"/>
          <p:cNvSpPr/>
          <p:nvPr/>
        </p:nvSpPr>
        <p:spPr>
          <a:xfrm>
            <a:off x="457200" y="5038344"/>
            <a:ext cx="11274552" cy="1024128"/>
          </a:xfrm>
          <a:prstGeom prst="roundRect">
            <a:avLst>
              <a:gd fmla="val 7143" name="adj"/>
            </a:avLst>
          </a:prstGeom>
          <a:solidFill>
            <a:srgbClr val="F4F5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7"/>
          <p:cNvSpPr/>
          <p:nvPr/>
        </p:nvSpPr>
        <p:spPr>
          <a:xfrm>
            <a:off x="658368" y="5294376"/>
            <a:ext cx="512064" cy="512064"/>
          </a:xfrm>
          <a:prstGeom prst="ellipse">
            <a:avLst/>
          </a:prstGeom>
          <a:solidFill>
            <a:srgbClr val="E0A45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7"/>
          <p:cNvSpPr txBox="1"/>
          <p:nvPr/>
        </p:nvSpPr>
        <p:spPr>
          <a:xfrm>
            <a:off x="658368" y="5294376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7"/>
          <p:cNvSpPr txBox="1"/>
          <p:nvPr/>
        </p:nvSpPr>
        <p:spPr>
          <a:xfrm>
            <a:off x="1371600" y="5148072"/>
            <a:ext cx="28346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Clean &amp; Split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7"/>
          <p:cNvSpPr txBox="1"/>
          <p:nvPr/>
        </p:nvSpPr>
        <p:spPr>
          <a:xfrm>
            <a:off x="4343400" y="5148072"/>
            <a:ext cx="72237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465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3C4656"/>
                </a:solidFill>
                <a:latin typeface="Calibri"/>
                <a:ea typeface="Calibri"/>
                <a:cs typeface="Calibri"/>
                <a:sym typeface="Calibri"/>
              </a:rPr>
              <a:t>Drop fragments under 3 words, remove duplicates, then take an 85/15 split stratified on the sentence label (INCORRECT if any word is).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7"/>
          <p:cNvSpPr txBox="1"/>
          <p:nvPr/>
        </p:nvSpPr>
        <p:spPr>
          <a:xfrm>
            <a:off x="457200" y="651052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686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7"/>
          <p:cNvSpPr txBox="1"/>
          <p:nvPr/>
        </p:nvSpPr>
        <p:spPr>
          <a:xfrm>
            <a:off x="7315200" y="6510528"/>
            <a:ext cx="44165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686"/>
                </a:solidFill>
                <a:latin typeface="Calibri"/>
                <a:ea typeface="Calibri"/>
                <a:cs typeface="Calibri"/>
                <a:sym typeface="Calibri"/>
              </a:rPr>
              <a:t>Grammar Error Detection with BERT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0" name="Google Shape;24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57265" y="6255780"/>
            <a:ext cx="2934735" cy="512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8"/>
          <p:cNvSpPr txBox="1"/>
          <p:nvPr/>
        </p:nvSpPr>
        <p:spPr>
          <a:xfrm>
            <a:off x="45720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A45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0A458"/>
                </a:solidFill>
                <a:latin typeface="Calibri"/>
                <a:ea typeface="Calibri"/>
                <a:cs typeface="Calibri"/>
                <a:sym typeface="Calibri"/>
              </a:rPr>
              <a:t>FEATURE ENGINEERING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8"/>
          <p:cNvSpPr txBox="1"/>
          <p:nvPr/>
        </p:nvSpPr>
        <p:spPr>
          <a:xfrm>
            <a:off x="457200" y="658368"/>
            <a:ext cx="86868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263B"/>
                </a:solidFill>
                <a:latin typeface="Cambria"/>
                <a:ea typeface="Cambria"/>
                <a:cs typeface="Cambria"/>
                <a:sym typeface="Cambria"/>
              </a:rPr>
              <a:t>Tokenization: No Manual Embeddings Needed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8"/>
          <p:cNvSpPr txBox="1"/>
          <p:nvPr/>
        </p:nvSpPr>
        <p:spPr>
          <a:xfrm>
            <a:off x="457200" y="132588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465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C4656"/>
                </a:solidFill>
                <a:latin typeface="Calibri"/>
                <a:ea typeface="Calibri"/>
                <a:cs typeface="Calibri"/>
                <a:sym typeface="Calibri"/>
              </a:rPr>
              <a:t>Unlike a from-scratch embedding model, DistilBERT already understands language — so this project skips building a vocabulary or training word vectors entirely.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8"/>
          <p:cNvSpPr/>
          <p:nvPr/>
        </p:nvSpPr>
        <p:spPr>
          <a:xfrm>
            <a:off x="457200" y="2057400"/>
            <a:ext cx="5440680" cy="3977640"/>
          </a:xfrm>
          <a:prstGeom prst="roundRect">
            <a:avLst>
              <a:gd fmla="val 1839" name="adj"/>
            </a:avLst>
          </a:prstGeom>
          <a:solidFill>
            <a:srgbClr val="F4F5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8"/>
          <p:cNvSpPr txBox="1"/>
          <p:nvPr/>
        </p:nvSpPr>
        <p:spPr>
          <a:xfrm>
            <a:off x="731520" y="228600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Tokenizing, Padding &amp; Label Alignment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8"/>
          <p:cNvSpPr txBox="1"/>
          <p:nvPr/>
        </p:nvSpPr>
        <p:spPr>
          <a:xfrm>
            <a:off x="731520" y="2788920"/>
            <a:ext cx="4892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A458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E0A458"/>
                </a:solidFill>
                <a:latin typeface="Calibri"/>
                <a:ea typeface="Calibri"/>
                <a:cs typeface="Calibri"/>
                <a:sym typeface="Calibri"/>
              </a:rPr>
              <a:t>Tokenizer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8"/>
          <p:cNvSpPr txBox="1"/>
          <p:nvPr/>
        </p:nvSpPr>
        <p:spPr>
          <a:xfrm>
            <a:off x="731520" y="3063240"/>
            <a:ext cx="4892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465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3C4656"/>
                </a:solidFill>
                <a:latin typeface="Calibri"/>
                <a:ea typeface="Calibri"/>
                <a:cs typeface="Calibri"/>
                <a:sym typeface="Calibri"/>
              </a:rPr>
              <a:t>AutoTokenizer for distilbert-base-uncased (WordPiece subwords)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8"/>
          <p:cNvSpPr txBox="1"/>
          <p:nvPr/>
        </p:nvSpPr>
        <p:spPr>
          <a:xfrm>
            <a:off x="731520" y="3474720"/>
            <a:ext cx="4892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A458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E0A458"/>
                </a:solidFill>
                <a:latin typeface="Calibri"/>
                <a:ea typeface="Calibri"/>
                <a:cs typeface="Calibri"/>
                <a:sym typeface="Calibri"/>
              </a:rPr>
              <a:t>Max length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8"/>
          <p:cNvSpPr txBox="1"/>
          <p:nvPr/>
        </p:nvSpPr>
        <p:spPr>
          <a:xfrm>
            <a:off x="731520" y="3749040"/>
            <a:ext cx="4892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465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3C4656"/>
                </a:solidFill>
                <a:latin typeface="Calibri"/>
                <a:ea typeface="Calibri"/>
                <a:cs typeface="Calibri"/>
                <a:sym typeface="Calibri"/>
              </a:rPr>
              <a:t>32 tokens — padded to max length, truncated (words pre-split)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8"/>
          <p:cNvSpPr txBox="1"/>
          <p:nvPr/>
        </p:nvSpPr>
        <p:spPr>
          <a:xfrm>
            <a:off x="731520" y="4160520"/>
            <a:ext cx="4892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A458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E0A458"/>
                </a:solidFill>
                <a:latin typeface="Calibri"/>
                <a:ea typeface="Calibri"/>
                <a:cs typeface="Calibri"/>
                <a:sym typeface="Calibri"/>
              </a:rPr>
              <a:t>Batch size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8"/>
          <p:cNvSpPr txBox="1"/>
          <p:nvPr/>
        </p:nvSpPr>
        <p:spPr>
          <a:xfrm>
            <a:off x="731520" y="4434840"/>
            <a:ext cx="4892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465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3C4656"/>
                </a:solidFill>
                <a:latin typeface="Calibri"/>
                <a:ea typeface="Calibri"/>
                <a:cs typeface="Calibri"/>
                <a:sym typeface="Calibri"/>
              </a:rPr>
              <a:t>32 for training, 64 for evaluation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8"/>
          <p:cNvSpPr txBox="1"/>
          <p:nvPr/>
        </p:nvSpPr>
        <p:spPr>
          <a:xfrm>
            <a:off x="731520" y="5212080"/>
            <a:ext cx="4892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B7686"/>
                </a:solidFill>
                <a:latin typeface="Calibri"/>
                <a:ea typeface="Calibri"/>
                <a:cs typeface="Calibri"/>
                <a:sym typeface="Calibri"/>
              </a:rPr>
              <a:t>Example:  "She go to school" → subwords → padded 32-length sequence; label on 1st subword only, rest = -100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8"/>
          <p:cNvSpPr/>
          <p:nvPr/>
        </p:nvSpPr>
        <p:spPr>
          <a:xfrm>
            <a:off x="6263640" y="2057400"/>
            <a:ext cx="5468112" cy="3977640"/>
          </a:xfrm>
          <a:prstGeom prst="roundRect">
            <a:avLst>
              <a:gd fmla="val 1839" name="adj"/>
            </a:avLst>
          </a:prstGeom>
          <a:solidFill>
            <a:srgbClr val="1B26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8"/>
          <p:cNvSpPr txBox="1"/>
          <p:nvPr/>
        </p:nvSpPr>
        <p:spPr>
          <a:xfrm>
            <a:off x="6537960" y="228600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Why Subwords Matter Here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8"/>
          <p:cNvSpPr txBox="1"/>
          <p:nvPr/>
        </p:nvSpPr>
        <p:spPr>
          <a:xfrm>
            <a:off x="6537960" y="2743200"/>
            <a:ext cx="49377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D2D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2DE"/>
                </a:solidFill>
                <a:latin typeface="Calibri"/>
                <a:ea typeface="Calibri"/>
                <a:cs typeface="Calibri"/>
                <a:sym typeface="Calibri"/>
              </a:rPr>
              <a:t>A fixed word-list model treats any misspelled or unusual word as one generic &lt;OOV&gt; token — losing exactly the signal grammar detection needs.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8"/>
          <p:cNvSpPr txBox="1"/>
          <p:nvPr/>
        </p:nvSpPr>
        <p:spPr>
          <a:xfrm>
            <a:off x="6537960" y="3657600"/>
            <a:ext cx="49377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D2D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2DE"/>
                </a:solidFill>
                <a:latin typeface="Calibri"/>
                <a:ea typeface="Calibri"/>
                <a:cs typeface="Calibri"/>
                <a:sym typeface="Calibri"/>
              </a:rPr>
              <a:t>DistilBERT's WordPiece tokenizer instead splits an unfamiliar or misspelled word into known sub-pieces, so the model still sees useful structure — no OOV problem to design around.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8"/>
          <p:cNvSpPr txBox="1"/>
          <p:nvPr/>
        </p:nvSpPr>
        <p:spPr>
          <a:xfrm>
            <a:off x="457200" y="651052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686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8"/>
          <p:cNvSpPr txBox="1"/>
          <p:nvPr/>
        </p:nvSpPr>
        <p:spPr>
          <a:xfrm>
            <a:off x="7315200" y="6510528"/>
            <a:ext cx="44165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686"/>
                </a:solidFill>
                <a:latin typeface="Calibri"/>
                <a:ea typeface="Calibri"/>
                <a:cs typeface="Calibri"/>
                <a:sym typeface="Calibri"/>
              </a:rPr>
              <a:t>Grammar Error Detection with BERT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4" name="Google Shape;26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57265" y="6255780"/>
            <a:ext cx="2934735" cy="512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9"/>
          <p:cNvSpPr txBox="1"/>
          <p:nvPr/>
        </p:nvSpPr>
        <p:spPr>
          <a:xfrm>
            <a:off x="45720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A45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0A458"/>
                </a:solidFill>
                <a:latin typeface="Calibri"/>
                <a:ea typeface="Calibri"/>
                <a:cs typeface="Calibri"/>
                <a:sym typeface="Calibri"/>
              </a:rPr>
              <a:t>MODEL BUILDING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9"/>
          <p:cNvSpPr txBox="1"/>
          <p:nvPr/>
        </p:nvSpPr>
        <p:spPr>
          <a:xfrm>
            <a:off x="457200" y="658368"/>
            <a:ext cx="86868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263B"/>
                </a:solidFill>
                <a:latin typeface="Cambria"/>
                <a:ea typeface="Cambria"/>
                <a:cs typeface="Cambria"/>
                <a:sym typeface="Cambria"/>
              </a:rPr>
              <a:t>DistilBERT for Token Classification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9"/>
          <p:cNvSpPr/>
          <p:nvPr/>
        </p:nvSpPr>
        <p:spPr>
          <a:xfrm>
            <a:off x="548640" y="1691640"/>
            <a:ext cx="2468880" cy="1371600"/>
          </a:xfrm>
          <a:prstGeom prst="roundRect">
            <a:avLst>
              <a:gd fmla="val 5333" name="adj"/>
            </a:avLst>
          </a:prstGeom>
          <a:solidFill>
            <a:srgbClr val="F4F5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9"/>
          <p:cNvSpPr txBox="1"/>
          <p:nvPr/>
        </p:nvSpPr>
        <p:spPr>
          <a:xfrm>
            <a:off x="685800" y="182880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Input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9"/>
          <p:cNvSpPr txBox="1"/>
          <p:nvPr/>
        </p:nvSpPr>
        <p:spPr>
          <a:xfrm>
            <a:off x="685800" y="224028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465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3C4656"/>
                </a:solidFill>
                <a:latin typeface="Calibri"/>
                <a:ea typeface="Calibri"/>
                <a:cs typeface="Calibri"/>
                <a:sym typeface="Calibri"/>
              </a:rPr>
              <a:t>Tokenized words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9"/>
          <p:cNvSpPr txBox="1"/>
          <p:nvPr/>
        </p:nvSpPr>
        <p:spPr>
          <a:xfrm>
            <a:off x="685800" y="2587752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6B7686"/>
                </a:solidFill>
                <a:latin typeface="Calibri"/>
                <a:ea typeface="Calibri"/>
                <a:cs typeface="Calibri"/>
                <a:sym typeface="Calibri"/>
              </a:rPr>
              <a:t>(32 subword tokens)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9"/>
          <p:cNvSpPr txBox="1"/>
          <p:nvPr/>
        </p:nvSpPr>
        <p:spPr>
          <a:xfrm>
            <a:off x="3017520" y="2148840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5A77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415A77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9"/>
          <p:cNvSpPr/>
          <p:nvPr/>
        </p:nvSpPr>
        <p:spPr>
          <a:xfrm>
            <a:off x="3520440" y="1691640"/>
            <a:ext cx="2468880" cy="1371600"/>
          </a:xfrm>
          <a:prstGeom prst="roundRect">
            <a:avLst>
              <a:gd fmla="val 5333" name="adj"/>
            </a:avLst>
          </a:prstGeom>
          <a:solidFill>
            <a:srgbClr val="F4F5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9"/>
          <p:cNvSpPr txBox="1"/>
          <p:nvPr/>
        </p:nvSpPr>
        <p:spPr>
          <a:xfrm>
            <a:off x="3657600" y="182880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DistilBERT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9"/>
          <p:cNvSpPr txBox="1"/>
          <p:nvPr/>
        </p:nvSpPr>
        <p:spPr>
          <a:xfrm>
            <a:off x="3657600" y="224028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465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3C4656"/>
                </a:solidFill>
                <a:latin typeface="Calibri"/>
                <a:ea typeface="Calibri"/>
                <a:cs typeface="Calibri"/>
                <a:sym typeface="Calibri"/>
              </a:rPr>
              <a:t>Pretrained encoder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9"/>
          <p:cNvSpPr txBox="1"/>
          <p:nvPr/>
        </p:nvSpPr>
        <p:spPr>
          <a:xfrm>
            <a:off x="3657600" y="2587752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6B7686"/>
                </a:solidFill>
                <a:latin typeface="Calibri"/>
                <a:ea typeface="Calibri"/>
                <a:cs typeface="Calibri"/>
                <a:sym typeface="Calibri"/>
              </a:rPr>
              <a:t>6 transformer layers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9"/>
          <p:cNvSpPr txBox="1"/>
          <p:nvPr/>
        </p:nvSpPr>
        <p:spPr>
          <a:xfrm>
            <a:off x="5989320" y="2148840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5A77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415A77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9"/>
          <p:cNvSpPr/>
          <p:nvPr/>
        </p:nvSpPr>
        <p:spPr>
          <a:xfrm>
            <a:off x="6492240" y="1691640"/>
            <a:ext cx="2468880" cy="1371600"/>
          </a:xfrm>
          <a:prstGeom prst="roundRect">
            <a:avLst>
              <a:gd fmla="val 5333" name="adj"/>
            </a:avLst>
          </a:prstGeom>
          <a:solidFill>
            <a:srgbClr val="F4F5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9"/>
          <p:cNvSpPr txBox="1"/>
          <p:nvPr/>
        </p:nvSpPr>
        <p:spPr>
          <a:xfrm>
            <a:off x="6629400" y="182880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Token Classifier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9"/>
          <p:cNvSpPr txBox="1"/>
          <p:nvPr/>
        </p:nvSpPr>
        <p:spPr>
          <a:xfrm>
            <a:off x="6629400" y="224028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465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3C4656"/>
                </a:solidFill>
                <a:latin typeface="Calibri"/>
                <a:ea typeface="Calibri"/>
                <a:cs typeface="Calibri"/>
                <a:sym typeface="Calibri"/>
              </a:rPr>
              <a:t>Dense (2) per token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9"/>
          <p:cNvSpPr txBox="1"/>
          <p:nvPr/>
        </p:nvSpPr>
        <p:spPr>
          <a:xfrm>
            <a:off x="6629400" y="2587752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6B7686"/>
                </a:solidFill>
                <a:latin typeface="Calibri"/>
                <a:ea typeface="Calibri"/>
                <a:cs typeface="Calibri"/>
                <a:sym typeface="Calibri"/>
              </a:rPr>
              <a:t>CORRECT / INCORRECT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9"/>
          <p:cNvSpPr txBox="1"/>
          <p:nvPr/>
        </p:nvSpPr>
        <p:spPr>
          <a:xfrm>
            <a:off x="8961120" y="2148840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5A77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415A77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9"/>
          <p:cNvSpPr/>
          <p:nvPr/>
        </p:nvSpPr>
        <p:spPr>
          <a:xfrm>
            <a:off x="9464040" y="1691640"/>
            <a:ext cx="2468880" cy="1371600"/>
          </a:xfrm>
          <a:prstGeom prst="roundRect">
            <a:avLst>
              <a:gd fmla="val 5333" name="adj"/>
            </a:avLst>
          </a:prstGeom>
          <a:solidFill>
            <a:srgbClr val="E0A45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9"/>
          <p:cNvSpPr txBox="1"/>
          <p:nvPr/>
        </p:nvSpPr>
        <p:spPr>
          <a:xfrm>
            <a:off x="9601200" y="182880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Word Labels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9"/>
          <p:cNvSpPr txBox="1"/>
          <p:nvPr/>
        </p:nvSpPr>
        <p:spPr>
          <a:xfrm>
            <a:off x="9601200" y="224028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465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3C4656"/>
                </a:solidFill>
                <a:latin typeface="Calibri"/>
                <a:ea typeface="Calibri"/>
                <a:cs typeface="Calibri"/>
                <a:sym typeface="Calibri"/>
              </a:rPr>
              <a:t>First subword → word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9"/>
          <p:cNvSpPr txBox="1"/>
          <p:nvPr/>
        </p:nvSpPr>
        <p:spPr>
          <a:xfrm>
            <a:off x="9601200" y="2587752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6B7686"/>
                </a:solidFill>
                <a:latin typeface="Calibri"/>
                <a:ea typeface="Calibri"/>
                <a:cs typeface="Calibri"/>
                <a:sym typeface="Calibri"/>
              </a:rPr>
              <a:t>-100 positions ignored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9"/>
          <p:cNvSpPr/>
          <p:nvPr/>
        </p:nvSpPr>
        <p:spPr>
          <a:xfrm>
            <a:off x="548640" y="3520440"/>
            <a:ext cx="2020824" cy="1051560"/>
          </a:xfrm>
          <a:prstGeom prst="roundRect">
            <a:avLst>
              <a:gd fmla="val 6957" name="adj"/>
            </a:avLst>
          </a:prstGeom>
          <a:solidFill>
            <a:srgbClr val="1B26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9"/>
          <p:cNvSpPr txBox="1"/>
          <p:nvPr/>
        </p:nvSpPr>
        <p:spPr>
          <a:xfrm>
            <a:off x="640080" y="3657600"/>
            <a:ext cx="183794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A458"/>
              </a:buClr>
              <a:buSzPts val="1100"/>
              <a:buFont typeface="Cambria"/>
              <a:buNone/>
            </a:pPr>
            <a:r>
              <a:rPr b="1" i="0" lang="en-US" sz="1100" u="none" cap="none" strike="noStrike">
                <a:solidFill>
                  <a:srgbClr val="E0A458"/>
                </a:solidFill>
                <a:latin typeface="Cambria"/>
                <a:ea typeface="Cambria"/>
                <a:cs typeface="Cambria"/>
                <a:sym typeface="Cambria"/>
              </a:rPr>
              <a:t>Cross-Entropy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9"/>
          <p:cNvSpPr txBox="1"/>
          <p:nvPr/>
        </p:nvSpPr>
        <p:spPr>
          <a:xfrm>
            <a:off x="548640" y="4114800"/>
            <a:ext cx="202082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D2D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9D2DE"/>
                </a:solidFill>
                <a:latin typeface="Calibri"/>
                <a:ea typeface="Calibri"/>
                <a:cs typeface="Calibri"/>
                <a:sym typeface="Calibri"/>
              </a:rPr>
              <a:t>Loss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9"/>
          <p:cNvSpPr/>
          <p:nvPr/>
        </p:nvSpPr>
        <p:spPr>
          <a:xfrm>
            <a:off x="2706624" y="3520440"/>
            <a:ext cx="2020824" cy="1051560"/>
          </a:xfrm>
          <a:prstGeom prst="roundRect">
            <a:avLst>
              <a:gd fmla="val 6957" name="adj"/>
            </a:avLst>
          </a:prstGeom>
          <a:solidFill>
            <a:srgbClr val="1B26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9"/>
          <p:cNvSpPr txBox="1"/>
          <p:nvPr/>
        </p:nvSpPr>
        <p:spPr>
          <a:xfrm>
            <a:off x="2798064" y="3657600"/>
            <a:ext cx="183794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A458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E0A458"/>
                </a:solidFill>
                <a:latin typeface="Cambria"/>
                <a:ea typeface="Cambria"/>
                <a:cs typeface="Cambria"/>
                <a:sym typeface="Cambria"/>
              </a:rPr>
              <a:t>Adam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9"/>
          <p:cNvSpPr txBox="1"/>
          <p:nvPr/>
        </p:nvSpPr>
        <p:spPr>
          <a:xfrm>
            <a:off x="2706624" y="4114800"/>
            <a:ext cx="202082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D2D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9D2DE"/>
                </a:solidFill>
                <a:latin typeface="Calibri"/>
                <a:ea typeface="Calibri"/>
                <a:cs typeface="Calibri"/>
                <a:sym typeface="Calibri"/>
              </a:rPr>
              <a:t>Optimizer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9"/>
          <p:cNvSpPr/>
          <p:nvPr/>
        </p:nvSpPr>
        <p:spPr>
          <a:xfrm>
            <a:off x="4864608" y="3520440"/>
            <a:ext cx="2020824" cy="1051560"/>
          </a:xfrm>
          <a:prstGeom prst="roundRect">
            <a:avLst>
              <a:gd fmla="val 6957" name="adj"/>
            </a:avLst>
          </a:prstGeom>
          <a:solidFill>
            <a:srgbClr val="1B26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9"/>
          <p:cNvSpPr txBox="1"/>
          <p:nvPr/>
        </p:nvSpPr>
        <p:spPr>
          <a:xfrm>
            <a:off x="4956048" y="3657600"/>
            <a:ext cx="183794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A458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E0A458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9"/>
          <p:cNvSpPr txBox="1"/>
          <p:nvPr/>
        </p:nvSpPr>
        <p:spPr>
          <a:xfrm>
            <a:off x="4864608" y="4114800"/>
            <a:ext cx="202082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D2D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9D2DE"/>
                </a:solidFill>
                <a:latin typeface="Calibri"/>
                <a:ea typeface="Calibri"/>
                <a:cs typeface="Calibri"/>
                <a:sym typeface="Calibri"/>
              </a:rPr>
              <a:t>Epochs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9"/>
          <p:cNvSpPr/>
          <p:nvPr/>
        </p:nvSpPr>
        <p:spPr>
          <a:xfrm>
            <a:off x="7022592" y="3520440"/>
            <a:ext cx="2020824" cy="1051560"/>
          </a:xfrm>
          <a:prstGeom prst="roundRect">
            <a:avLst>
              <a:gd fmla="val 6957" name="adj"/>
            </a:avLst>
          </a:prstGeom>
          <a:solidFill>
            <a:srgbClr val="1B26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9"/>
          <p:cNvSpPr txBox="1"/>
          <p:nvPr/>
        </p:nvSpPr>
        <p:spPr>
          <a:xfrm>
            <a:off x="7114032" y="3657600"/>
            <a:ext cx="183794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A458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E0A458"/>
                </a:solidFill>
                <a:latin typeface="Cambria"/>
                <a:ea typeface="Cambria"/>
                <a:cs typeface="Cambria"/>
                <a:sym typeface="Cambria"/>
              </a:rPr>
              <a:t>32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9"/>
          <p:cNvSpPr txBox="1"/>
          <p:nvPr/>
        </p:nvSpPr>
        <p:spPr>
          <a:xfrm>
            <a:off x="7022592" y="4114800"/>
            <a:ext cx="202082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D2D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9D2DE"/>
                </a:solidFill>
                <a:latin typeface="Calibri"/>
                <a:ea typeface="Calibri"/>
                <a:cs typeface="Calibri"/>
                <a:sym typeface="Calibri"/>
              </a:rPr>
              <a:t>Batch Size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9"/>
          <p:cNvSpPr/>
          <p:nvPr/>
        </p:nvSpPr>
        <p:spPr>
          <a:xfrm>
            <a:off x="9180576" y="3520440"/>
            <a:ext cx="2020824" cy="1051560"/>
          </a:xfrm>
          <a:prstGeom prst="roundRect">
            <a:avLst>
              <a:gd fmla="val 6957" name="adj"/>
            </a:avLst>
          </a:prstGeom>
          <a:solidFill>
            <a:srgbClr val="1B26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9"/>
          <p:cNvSpPr txBox="1"/>
          <p:nvPr/>
        </p:nvSpPr>
        <p:spPr>
          <a:xfrm>
            <a:off x="9272016" y="3657600"/>
            <a:ext cx="1837944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A458"/>
              </a:buClr>
              <a:buSzPts val="1100"/>
              <a:buFont typeface="Cambria"/>
              <a:buNone/>
            </a:pPr>
            <a:r>
              <a:rPr b="1" i="0" lang="en-US" sz="1100" u="none" cap="none" strike="noStrike">
                <a:solidFill>
                  <a:srgbClr val="E0A458"/>
                </a:solidFill>
                <a:latin typeface="Cambria"/>
                <a:ea typeface="Cambria"/>
                <a:cs typeface="Cambria"/>
                <a:sym typeface="Cambria"/>
              </a:rPr>
              <a:t>distilbert-base-uncased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9"/>
          <p:cNvSpPr txBox="1"/>
          <p:nvPr/>
        </p:nvSpPr>
        <p:spPr>
          <a:xfrm>
            <a:off x="9180576" y="4114800"/>
            <a:ext cx="202082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D2D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9D2DE"/>
                </a:solidFill>
                <a:latin typeface="Calibri"/>
                <a:ea typeface="Calibri"/>
                <a:cs typeface="Calibri"/>
                <a:sym typeface="Calibri"/>
              </a:rPr>
              <a:t>Base Model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9"/>
          <p:cNvSpPr txBox="1"/>
          <p:nvPr/>
        </p:nvSpPr>
        <p:spPr>
          <a:xfrm>
            <a:off x="548640" y="489204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6B7686"/>
                </a:solidFill>
                <a:latin typeface="Calibri"/>
                <a:ea typeface="Calibri"/>
                <a:cs typeface="Calibri"/>
                <a:sym typeface="Calibri"/>
              </a:rPr>
              <a:t>Note: only the token-classification head is newly initialized (weight decay 0.01) — everything else in DistilBERT is reused from pretraining and lightly fine-tuned.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9"/>
          <p:cNvSpPr txBox="1"/>
          <p:nvPr/>
        </p:nvSpPr>
        <p:spPr>
          <a:xfrm>
            <a:off x="457200" y="651052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686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9"/>
          <p:cNvSpPr txBox="1"/>
          <p:nvPr/>
        </p:nvSpPr>
        <p:spPr>
          <a:xfrm>
            <a:off x="7315200" y="6510528"/>
            <a:ext cx="44165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686"/>
                </a:solidFill>
                <a:latin typeface="Calibri"/>
                <a:ea typeface="Calibri"/>
                <a:cs typeface="Calibri"/>
                <a:sym typeface="Calibri"/>
              </a:rPr>
              <a:t>Grammar Error Detection with BERT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9" name="Google Shape;30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57265" y="6255780"/>
            <a:ext cx="2934735" cy="512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0"/>
          <p:cNvSpPr txBox="1"/>
          <p:nvPr/>
        </p:nvSpPr>
        <p:spPr>
          <a:xfrm>
            <a:off x="45720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A45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0A458"/>
                </a:solidFill>
                <a:latin typeface="Calibri"/>
                <a:ea typeface="Calibri"/>
                <a:cs typeface="Calibri"/>
                <a:sym typeface="Calibri"/>
              </a:rPr>
              <a:t>MODEL EVALUATION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0"/>
          <p:cNvSpPr txBox="1"/>
          <p:nvPr/>
        </p:nvSpPr>
        <p:spPr>
          <a:xfrm>
            <a:off x="457200" y="658368"/>
            <a:ext cx="86868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263B"/>
                </a:solidFill>
                <a:latin typeface="Cambria"/>
                <a:ea typeface="Cambria"/>
                <a:cs typeface="Cambria"/>
                <a:sym typeface="Cambria"/>
              </a:rPr>
              <a:t>Word-Level Performance on the Held-Out Test Set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17" name="Google Shape;317;p10"/>
          <p:cNvGraphicFramePr/>
          <p:nvPr/>
        </p:nvGraphicFramePr>
        <p:xfrm>
          <a:off x="457200" y="14173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{0369BAAD-0664-435E-B2A8-3C3E592CA099}</a:tableStyleId>
              </a:tblPr>
              <a:tblGrid>
                <a:gridCol w="2011675"/>
                <a:gridCol w="1188725"/>
                <a:gridCol w="1097275"/>
                <a:gridCol w="1188725"/>
                <a:gridCol w="1188725"/>
              </a:tblGrid>
              <a:tr h="475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Class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Precision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Recall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F1-score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Support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63B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465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C465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CORRECT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465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C465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0.90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465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C465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0.99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465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C465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0.94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465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C465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48,725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465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C465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INCORRECT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465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C465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0.79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465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C465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0.28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465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C465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0.42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465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C465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7,174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465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C465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Macro avg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465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C465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0.84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465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C465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0.64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465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C465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0.68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465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C465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55,899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465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C465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Weighted avg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465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C465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0.89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465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C465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0.90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465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C465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0.88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C465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3C465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55,899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18" name="Google Shape;318;p10"/>
          <p:cNvSpPr txBox="1"/>
          <p:nvPr/>
        </p:nvSpPr>
        <p:spPr>
          <a:xfrm>
            <a:off x="457200" y="4114800"/>
            <a:ext cx="21031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B263B"/>
                </a:solidFill>
                <a:latin typeface="Cambria"/>
                <a:ea typeface="Cambria"/>
                <a:cs typeface="Cambria"/>
                <a:sym typeface="Cambria"/>
              </a:rPr>
              <a:t>90%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0"/>
          <p:cNvSpPr txBox="1"/>
          <p:nvPr/>
        </p:nvSpPr>
        <p:spPr>
          <a:xfrm>
            <a:off x="457200" y="4709160"/>
            <a:ext cx="2103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686"/>
                </a:solidFill>
                <a:latin typeface="Calibri"/>
                <a:ea typeface="Calibri"/>
                <a:cs typeface="Calibri"/>
                <a:sym typeface="Calibri"/>
              </a:rPr>
              <a:t>Overall Accuracy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0"/>
          <p:cNvSpPr txBox="1"/>
          <p:nvPr/>
        </p:nvSpPr>
        <p:spPr>
          <a:xfrm>
            <a:off x="2697480" y="4114800"/>
            <a:ext cx="21031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B263B"/>
                </a:solidFill>
                <a:latin typeface="Cambria"/>
                <a:ea typeface="Cambria"/>
                <a:cs typeface="Cambria"/>
                <a:sym typeface="Cambria"/>
              </a:rPr>
              <a:t>0.68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0"/>
          <p:cNvSpPr txBox="1"/>
          <p:nvPr/>
        </p:nvSpPr>
        <p:spPr>
          <a:xfrm>
            <a:off x="2697480" y="4709160"/>
            <a:ext cx="2103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686"/>
                </a:solidFill>
                <a:latin typeface="Calibri"/>
                <a:ea typeface="Calibri"/>
                <a:cs typeface="Calibri"/>
                <a:sym typeface="Calibri"/>
              </a:rPr>
              <a:t>Macro Avg F1-score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0"/>
          <p:cNvSpPr txBox="1"/>
          <p:nvPr/>
        </p:nvSpPr>
        <p:spPr>
          <a:xfrm>
            <a:off x="4937760" y="4114800"/>
            <a:ext cx="21031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B263B"/>
                </a:solidFill>
                <a:latin typeface="Cambria"/>
                <a:ea typeface="Cambria"/>
                <a:cs typeface="Cambria"/>
                <a:sym typeface="Cambria"/>
              </a:rPr>
              <a:t>0.88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0"/>
          <p:cNvSpPr txBox="1"/>
          <p:nvPr/>
        </p:nvSpPr>
        <p:spPr>
          <a:xfrm>
            <a:off x="4937760" y="4709160"/>
            <a:ext cx="2103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686"/>
                </a:solidFill>
                <a:latin typeface="Calibri"/>
                <a:ea typeface="Calibri"/>
                <a:cs typeface="Calibri"/>
                <a:sym typeface="Calibri"/>
              </a:rPr>
              <a:t>Weighted Avg F1-score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0"/>
          <p:cNvSpPr/>
          <p:nvPr/>
        </p:nvSpPr>
        <p:spPr>
          <a:xfrm>
            <a:off x="7452360" y="1417320"/>
            <a:ext cx="4279392" cy="4709160"/>
          </a:xfrm>
          <a:prstGeom prst="roundRect">
            <a:avLst>
              <a:gd fmla="val 1709" name="adj"/>
            </a:avLst>
          </a:prstGeom>
          <a:solidFill>
            <a:srgbClr val="F4F5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10"/>
          <p:cNvSpPr txBox="1"/>
          <p:nvPr/>
        </p:nvSpPr>
        <p:spPr>
          <a:xfrm>
            <a:off x="7680960" y="164592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Reading the numbers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0"/>
          <p:cNvSpPr txBox="1"/>
          <p:nvPr/>
        </p:nvSpPr>
        <p:spPr>
          <a:xfrm>
            <a:off x="7680960" y="2148840"/>
            <a:ext cx="38404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465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C4656"/>
                </a:solidFill>
                <a:latin typeface="Calibri"/>
                <a:ea typeface="Calibri"/>
                <a:cs typeface="Calibri"/>
                <a:sym typeface="Calibri"/>
              </a:rPr>
              <a:t>•  CORRECT words: precision 0.90, recall 0.99 — the model almost never flags a correct word (support = words, not sentences).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0"/>
          <p:cNvSpPr txBox="1"/>
          <p:nvPr/>
        </p:nvSpPr>
        <p:spPr>
          <a:xfrm>
            <a:off x="7680960" y="3383280"/>
            <a:ext cx="38404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465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C4656"/>
                </a:solidFill>
                <a:latin typeface="Calibri"/>
                <a:ea typeface="Calibri"/>
                <a:cs typeface="Calibri"/>
                <a:sym typeface="Calibri"/>
              </a:rPr>
              <a:t>•  INCORRECT words: precision 0.79 but recall only 0.28 — flagged words are usually right, but many errors are missed (only ~13% of words are incorrect).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0"/>
          <p:cNvSpPr txBox="1"/>
          <p:nvPr/>
        </p:nvSpPr>
        <p:spPr>
          <a:xfrm>
            <a:off x="7680960" y="4617720"/>
            <a:ext cx="38404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465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C4656"/>
                </a:solidFill>
                <a:latin typeface="Calibri"/>
                <a:ea typeface="Calibri"/>
                <a:cs typeface="Calibri"/>
                <a:sym typeface="Calibri"/>
              </a:rPr>
              <a:t>•  Macro F1 (0.68) is the fairer summary — 90% accuracy is inflated by the dominant CORRECT class.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0"/>
          <p:cNvSpPr txBox="1"/>
          <p:nvPr/>
        </p:nvSpPr>
        <p:spPr>
          <a:xfrm>
            <a:off x="457200" y="651052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686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0"/>
          <p:cNvSpPr txBox="1"/>
          <p:nvPr/>
        </p:nvSpPr>
        <p:spPr>
          <a:xfrm>
            <a:off x="7315200" y="6510528"/>
            <a:ext cx="44165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686"/>
                </a:solidFill>
                <a:latin typeface="Calibri"/>
                <a:ea typeface="Calibri"/>
                <a:cs typeface="Calibri"/>
                <a:sym typeface="Calibri"/>
              </a:rPr>
              <a:t>Grammar Error Detection with BERT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1" name="Google Shape;33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57265" y="6255780"/>
            <a:ext cx="2934735" cy="512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1"/>
          <p:cNvSpPr txBox="1"/>
          <p:nvPr/>
        </p:nvSpPr>
        <p:spPr>
          <a:xfrm>
            <a:off x="45720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A45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0A458"/>
                </a:solidFill>
                <a:latin typeface="Calibri"/>
                <a:ea typeface="Calibri"/>
                <a:cs typeface="Calibri"/>
                <a:sym typeface="Calibri"/>
              </a:rPr>
              <a:t>MODEL IN ACTION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1"/>
          <p:cNvSpPr txBox="1"/>
          <p:nvPr/>
        </p:nvSpPr>
        <p:spPr>
          <a:xfrm>
            <a:off x="457200" y="658368"/>
            <a:ext cx="86868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263B"/>
                </a:solidFill>
                <a:latin typeface="Cambria"/>
                <a:ea typeface="Cambria"/>
                <a:cs typeface="Cambria"/>
                <a:sym typeface="Cambria"/>
              </a:rPr>
              <a:t>Sample Predictions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1"/>
          <p:cNvSpPr/>
          <p:nvPr/>
        </p:nvSpPr>
        <p:spPr>
          <a:xfrm>
            <a:off x="457200" y="1554480"/>
            <a:ext cx="2697480" cy="2377440"/>
          </a:xfrm>
          <a:prstGeom prst="roundRect">
            <a:avLst>
              <a:gd fmla="val 3077" name="adj"/>
            </a:avLst>
          </a:prstGeom>
          <a:solidFill>
            <a:srgbClr val="F4F5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11"/>
          <p:cNvSpPr txBox="1"/>
          <p:nvPr/>
        </p:nvSpPr>
        <p:spPr>
          <a:xfrm>
            <a:off x="640080" y="1737360"/>
            <a:ext cx="2331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“She go to school every day.”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1"/>
          <p:cNvSpPr/>
          <p:nvPr/>
        </p:nvSpPr>
        <p:spPr>
          <a:xfrm>
            <a:off x="1394460" y="2697480"/>
            <a:ext cx="822960" cy="822960"/>
          </a:xfrm>
          <a:prstGeom prst="ellipse">
            <a:avLst/>
          </a:prstGeom>
          <a:solidFill>
            <a:srgbClr val="B529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11"/>
          <p:cNvSpPr txBox="1"/>
          <p:nvPr/>
        </p:nvSpPr>
        <p:spPr>
          <a:xfrm>
            <a:off x="1394460" y="2697480"/>
            <a:ext cx="822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❌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1"/>
          <p:cNvSpPr txBox="1"/>
          <p:nvPr/>
        </p:nvSpPr>
        <p:spPr>
          <a:xfrm>
            <a:off x="640080" y="3566160"/>
            <a:ext cx="2331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292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B5292F"/>
                </a:solidFill>
                <a:latin typeface="Calibri"/>
                <a:ea typeface="Calibri"/>
                <a:cs typeface="Calibri"/>
                <a:sym typeface="Calibri"/>
              </a:rPr>
              <a:t>INCORRECT · flagged: “go”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1"/>
          <p:cNvSpPr/>
          <p:nvPr/>
        </p:nvSpPr>
        <p:spPr>
          <a:xfrm>
            <a:off x="3337560" y="1554480"/>
            <a:ext cx="2697480" cy="2377440"/>
          </a:xfrm>
          <a:prstGeom prst="roundRect">
            <a:avLst>
              <a:gd fmla="val 3077" name="adj"/>
            </a:avLst>
          </a:prstGeom>
          <a:solidFill>
            <a:srgbClr val="F4F5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11"/>
          <p:cNvSpPr txBox="1"/>
          <p:nvPr/>
        </p:nvSpPr>
        <p:spPr>
          <a:xfrm>
            <a:off x="3520440" y="1737360"/>
            <a:ext cx="2331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“She goes to school every day.”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1"/>
          <p:cNvSpPr/>
          <p:nvPr/>
        </p:nvSpPr>
        <p:spPr>
          <a:xfrm>
            <a:off x="4274820" y="2697480"/>
            <a:ext cx="822960" cy="822960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11"/>
          <p:cNvSpPr txBox="1"/>
          <p:nvPr/>
        </p:nvSpPr>
        <p:spPr>
          <a:xfrm>
            <a:off x="4274820" y="2697480"/>
            <a:ext cx="822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✅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1"/>
          <p:cNvSpPr txBox="1"/>
          <p:nvPr/>
        </p:nvSpPr>
        <p:spPr>
          <a:xfrm>
            <a:off x="3520440" y="3566160"/>
            <a:ext cx="2331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6A4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rPr>
              <a:t>CORRECT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1"/>
          <p:cNvSpPr/>
          <p:nvPr/>
        </p:nvSpPr>
        <p:spPr>
          <a:xfrm>
            <a:off x="6217920" y="1554480"/>
            <a:ext cx="2697480" cy="2377440"/>
          </a:xfrm>
          <a:prstGeom prst="roundRect">
            <a:avLst>
              <a:gd fmla="val 3077" name="adj"/>
            </a:avLst>
          </a:prstGeom>
          <a:solidFill>
            <a:srgbClr val="F4F5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11"/>
          <p:cNvSpPr txBox="1"/>
          <p:nvPr/>
        </p:nvSpPr>
        <p:spPr>
          <a:xfrm>
            <a:off x="6400800" y="1737360"/>
            <a:ext cx="2331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“I have went to the store yesterday.”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1"/>
          <p:cNvSpPr/>
          <p:nvPr/>
        </p:nvSpPr>
        <p:spPr>
          <a:xfrm>
            <a:off x="7155180" y="2697480"/>
            <a:ext cx="822960" cy="822960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11"/>
          <p:cNvSpPr txBox="1"/>
          <p:nvPr/>
        </p:nvSpPr>
        <p:spPr>
          <a:xfrm>
            <a:off x="7155180" y="2697480"/>
            <a:ext cx="822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✅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1"/>
          <p:cNvSpPr txBox="1"/>
          <p:nvPr/>
        </p:nvSpPr>
        <p:spPr>
          <a:xfrm>
            <a:off x="6400800" y="3566160"/>
            <a:ext cx="2331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6A4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rPr>
              <a:t>CORRECT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1"/>
          <p:cNvSpPr/>
          <p:nvPr/>
        </p:nvSpPr>
        <p:spPr>
          <a:xfrm>
            <a:off x="9098280" y="1554480"/>
            <a:ext cx="2697480" cy="2377440"/>
          </a:xfrm>
          <a:prstGeom prst="roundRect">
            <a:avLst>
              <a:gd fmla="val 3077" name="adj"/>
            </a:avLst>
          </a:prstGeom>
          <a:solidFill>
            <a:srgbClr val="F4F5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11"/>
          <p:cNvSpPr txBox="1"/>
          <p:nvPr/>
        </p:nvSpPr>
        <p:spPr>
          <a:xfrm>
            <a:off x="9281160" y="1737360"/>
            <a:ext cx="2331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“He doesn't like coffee.”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1"/>
          <p:cNvSpPr/>
          <p:nvPr/>
        </p:nvSpPr>
        <p:spPr>
          <a:xfrm>
            <a:off x="10035540" y="2697480"/>
            <a:ext cx="822960" cy="822960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11"/>
          <p:cNvSpPr txBox="1"/>
          <p:nvPr/>
        </p:nvSpPr>
        <p:spPr>
          <a:xfrm>
            <a:off x="10035540" y="2697480"/>
            <a:ext cx="822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✅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1"/>
          <p:cNvSpPr txBox="1"/>
          <p:nvPr/>
        </p:nvSpPr>
        <p:spPr>
          <a:xfrm>
            <a:off x="9281160" y="3566160"/>
            <a:ext cx="2331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6A4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rPr>
              <a:t>CORRECT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1"/>
          <p:cNvSpPr txBox="1"/>
          <p:nvPr/>
        </p:nvSpPr>
        <p:spPr>
          <a:xfrm>
            <a:off x="457200" y="4297680"/>
            <a:ext cx="11247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4656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3C4656"/>
                </a:solidFill>
                <a:latin typeface="Calibri"/>
                <a:ea typeface="Calibri"/>
                <a:cs typeface="Calibri"/>
                <a:sym typeface="Calibri"/>
              </a:rPr>
              <a:t>The model flags the wrong word in subject-verb agreement errors (“go”), and clean sentences pass — but it misses “have went”, consistent with the low INCORRECT recall (0.28).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1"/>
          <p:cNvSpPr txBox="1"/>
          <p:nvPr/>
        </p:nvSpPr>
        <p:spPr>
          <a:xfrm>
            <a:off x="457200" y="651052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686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1"/>
          <p:cNvSpPr txBox="1"/>
          <p:nvPr/>
        </p:nvSpPr>
        <p:spPr>
          <a:xfrm>
            <a:off x="7315200" y="6510528"/>
            <a:ext cx="44165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686"/>
                </a:solidFill>
                <a:latin typeface="Calibri"/>
                <a:ea typeface="Calibri"/>
                <a:cs typeface="Calibri"/>
                <a:sym typeface="Calibri"/>
              </a:rPr>
              <a:t>Grammar Error Detection with BERT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2" name="Google Shape;36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57265" y="6255780"/>
            <a:ext cx="2934735" cy="512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2"/>
          <p:cNvSpPr txBox="1"/>
          <p:nvPr/>
        </p:nvSpPr>
        <p:spPr>
          <a:xfrm>
            <a:off x="45720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A45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0A458"/>
                </a:solidFill>
                <a:latin typeface="Calibri"/>
                <a:ea typeface="Calibri"/>
                <a:cs typeface="Calibri"/>
                <a:sym typeface="Calibri"/>
              </a:rPr>
              <a:t>MODEL DEPLOYMENT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2"/>
          <p:cNvSpPr txBox="1"/>
          <p:nvPr/>
        </p:nvSpPr>
        <p:spPr>
          <a:xfrm>
            <a:off x="457200" y="658368"/>
            <a:ext cx="86868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263B"/>
                </a:solidFill>
                <a:latin typeface="Cambria"/>
                <a:ea typeface="Cambria"/>
                <a:cs typeface="Cambria"/>
                <a:sym typeface="Cambria"/>
              </a:rPr>
              <a:t>A Live Streamlit Prediction App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2"/>
          <p:cNvSpPr txBox="1"/>
          <p:nvPr/>
        </p:nvSpPr>
        <p:spPr>
          <a:xfrm>
            <a:off x="457200" y="132588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465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C4656"/>
                </a:solidFill>
                <a:latin typeface="Calibri"/>
                <a:ea typeface="Calibri"/>
                <a:cs typeface="Calibri"/>
                <a:sym typeface="Calibri"/>
              </a:rPr>
              <a:t>The fine-tuned model and tokenizer were saved and served through a lightweight Streamlit app for real-time grammar checking.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2"/>
          <p:cNvSpPr/>
          <p:nvPr/>
        </p:nvSpPr>
        <p:spPr>
          <a:xfrm>
            <a:off x="457200" y="2011680"/>
            <a:ext cx="2724912" cy="3566160"/>
          </a:xfrm>
          <a:prstGeom prst="roundRect">
            <a:avLst>
              <a:gd fmla="val 2685" name="adj"/>
            </a:avLst>
          </a:prstGeom>
          <a:solidFill>
            <a:srgbClr val="F4F5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12"/>
          <p:cNvSpPr/>
          <p:nvPr/>
        </p:nvSpPr>
        <p:spPr>
          <a:xfrm>
            <a:off x="640080" y="2194560"/>
            <a:ext cx="502920" cy="502920"/>
          </a:xfrm>
          <a:prstGeom prst="ellipse">
            <a:avLst/>
          </a:prstGeom>
          <a:solidFill>
            <a:srgbClr val="1B26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12"/>
          <p:cNvSpPr txBox="1"/>
          <p:nvPr/>
        </p:nvSpPr>
        <p:spPr>
          <a:xfrm>
            <a:off x="640080" y="21945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2"/>
          <p:cNvSpPr txBox="1"/>
          <p:nvPr/>
        </p:nvSpPr>
        <p:spPr>
          <a:xfrm>
            <a:off x="640080" y="2834640"/>
            <a:ext cx="23591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Save Artifacts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2"/>
          <p:cNvSpPr txBox="1"/>
          <p:nvPr/>
        </p:nvSpPr>
        <p:spPr>
          <a:xfrm>
            <a:off x="640080" y="3291840"/>
            <a:ext cx="2359152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465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C4656"/>
                </a:solidFill>
                <a:latin typeface="Calibri"/>
                <a:ea typeface="Calibri"/>
                <a:cs typeface="Calibri"/>
                <a:sym typeface="Calibri"/>
              </a:rPr>
              <a:t>model.save_pretrained() / tokenizer.save_pretrained() write config, weights &amp; tokenizer into distilbert_ged_token_model1/.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2"/>
          <p:cNvSpPr/>
          <p:nvPr/>
        </p:nvSpPr>
        <p:spPr>
          <a:xfrm>
            <a:off x="3364992" y="2011680"/>
            <a:ext cx="2724912" cy="3566160"/>
          </a:xfrm>
          <a:prstGeom prst="roundRect">
            <a:avLst>
              <a:gd fmla="val 2685" name="adj"/>
            </a:avLst>
          </a:prstGeom>
          <a:solidFill>
            <a:srgbClr val="F4F5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12"/>
          <p:cNvSpPr/>
          <p:nvPr/>
        </p:nvSpPr>
        <p:spPr>
          <a:xfrm>
            <a:off x="3547872" y="2194560"/>
            <a:ext cx="502920" cy="502920"/>
          </a:xfrm>
          <a:prstGeom prst="ellipse">
            <a:avLst/>
          </a:prstGeom>
          <a:solidFill>
            <a:srgbClr val="1B26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12"/>
          <p:cNvSpPr txBox="1"/>
          <p:nvPr/>
        </p:nvSpPr>
        <p:spPr>
          <a:xfrm>
            <a:off x="3547872" y="21945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2"/>
          <p:cNvSpPr txBox="1"/>
          <p:nvPr/>
        </p:nvSpPr>
        <p:spPr>
          <a:xfrm>
            <a:off x="3547872" y="2834640"/>
            <a:ext cx="23591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Build the UI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2"/>
          <p:cNvSpPr txBox="1"/>
          <p:nvPr/>
        </p:nvSpPr>
        <p:spPr>
          <a:xfrm>
            <a:off x="3547872" y="3291840"/>
            <a:ext cx="2359152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465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C4656"/>
                </a:solidFill>
                <a:latin typeface="Calibri"/>
                <a:ea typeface="Calibri"/>
                <a:cs typeface="Calibri"/>
                <a:sym typeface="Calibri"/>
              </a:rPr>
              <a:t>A Streamlit text area collects a sentence, styled with a background image and a "Check Grammar" button.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2"/>
          <p:cNvSpPr/>
          <p:nvPr/>
        </p:nvSpPr>
        <p:spPr>
          <a:xfrm>
            <a:off x="6272784" y="2011680"/>
            <a:ext cx="2724912" cy="3566160"/>
          </a:xfrm>
          <a:prstGeom prst="roundRect">
            <a:avLst>
              <a:gd fmla="val 2685" name="adj"/>
            </a:avLst>
          </a:prstGeom>
          <a:solidFill>
            <a:srgbClr val="F4F5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12"/>
          <p:cNvSpPr/>
          <p:nvPr/>
        </p:nvSpPr>
        <p:spPr>
          <a:xfrm>
            <a:off x="6455664" y="2194560"/>
            <a:ext cx="502920" cy="502920"/>
          </a:xfrm>
          <a:prstGeom prst="ellipse">
            <a:avLst/>
          </a:prstGeom>
          <a:solidFill>
            <a:srgbClr val="1B26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12"/>
          <p:cNvSpPr txBox="1"/>
          <p:nvPr/>
        </p:nvSpPr>
        <p:spPr>
          <a:xfrm>
            <a:off x="6455664" y="21945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2"/>
          <p:cNvSpPr txBox="1"/>
          <p:nvPr/>
        </p:nvSpPr>
        <p:spPr>
          <a:xfrm>
            <a:off x="6455664" y="2834640"/>
            <a:ext cx="23591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Tokenize &amp; Predict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2"/>
          <p:cNvSpPr txBox="1"/>
          <p:nvPr/>
        </p:nvSpPr>
        <p:spPr>
          <a:xfrm>
            <a:off x="6455664" y="3291840"/>
            <a:ext cx="2359152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465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C4656"/>
                </a:solidFill>
                <a:latin typeface="Calibri"/>
                <a:ea typeface="Calibri"/>
                <a:cs typeface="Calibri"/>
                <a:sym typeface="Calibri"/>
              </a:rPr>
              <a:t>The sentence is split into words and run through the same tokenizer; the model predicts CORRECT/INCORRECT for each word (first subword).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2"/>
          <p:cNvSpPr/>
          <p:nvPr/>
        </p:nvSpPr>
        <p:spPr>
          <a:xfrm>
            <a:off x="9180576" y="2011680"/>
            <a:ext cx="2724912" cy="3566160"/>
          </a:xfrm>
          <a:prstGeom prst="roundRect">
            <a:avLst>
              <a:gd fmla="val 2685" name="adj"/>
            </a:avLst>
          </a:prstGeom>
          <a:solidFill>
            <a:srgbClr val="F4F5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12"/>
          <p:cNvSpPr/>
          <p:nvPr/>
        </p:nvSpPr>
        <p:spPr>
          <a:xfrm>
            <a:off x="9363456" y="2194560"/>
            <a:ext cx="502920" cy="502920"/>
          </a:xfrm>
          <a:prstGeom prst="ellipse">
            <a:avLst/>
          </a:prstGeom>
          <a:solidFill>
            <a:srgbClr val="1B26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12"/>
          <p:cNvSpPr txBox="1"/>
          <p:nvPr/>
        </p:nvSpPr>
        <p:spPr>
          <a:xfrm>
            <a:off x="9363456" y="21945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2"/>
          <p:cNvSpPr txBox="1"/>
          <p:nvPr/>
        </p:nvSpPr>
        <p:spPr>
          <a:xfrm>
            <a:off x="9363456" y="2834640"/>
            <a:ext cx="23591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Display Result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2"/>
          <p:cNvSpPr txBox="1"/>
          <p:nvPr/>
        </p:nvSpPr>
        <p:spPr>
          <a:xfrm>
            <a:off x="9363456" y="3291840"/>
            <a:ext cx="2359152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465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C4656"/>
                </a:solidFill>
                <a:latin typeface="Calibri"/>
                <a:ea typeface="Calibri"/>
                <a:cs typeface="Calibri"/>
                <a:sym typeface="Calibri"/>
              </a:rPr>
              <a:t>Any INCORRECT word makes the sentence INCORRECT, and the flagged word(s) are shown; otherwise the sentence is CORRECT.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2"/>
          <p:cNvSpPr txBox="1"/>
          <p:nvPr/>
        </p:nvSpPr>
        <p:spPr>
          <a:xfrm>
            <a:off x="457200" y="651052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686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2"/>
          <p:cNvSpPr txBox="1"/>
          <p:nvPr/>
        </p:nvSpPr>
        <p:spPr>
          <a:xfrm>
            <a:off x="7315200" y="6510528"/>
            <a:ext cx="44165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686"/>
                </a:solidFill>
                <a:latin typeface="Calibri"/>
                <a:ea typeface="Calibri"/>
                <a:cs typeface="Calibri"/>
                <a:sym typeface="Calibri"/>
              </a:rPr>
              <a:t>Grammar Error Detection with BERT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3" name="Google Shape;39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57265" y="6255780"/>
            <a:ext cx="2934735" cy="512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" name="Google Shape;399;h4362b10b95629df1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050" y="1076175"/>
            <a:ext cx="11887202" cy="4942149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h4362b10b95629df1_0_0"/>
          <p:cNvSpPr txBox="1"/>
          <p:nvPr/>
        </p:nvSpPr>
        <p:spPr>
          <a:xfrm>
            <a:off x="215050" y="517443"/>
            <a:ext cx="86868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1B263B"/>
                </a:solidFill>
                <a:latin typeface="Cambria"/>
                <a:ea typeface="Cambria"/>
                <a:cs typeface="Cambria"/>
                <a:sym typeface="Cambria"/>
              </a:rPr>
              <a:t>Streamlit Prediction Screenshot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1" name="Google Shape;401;h4362b10b95629df1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57265" y="6255780"/>
            <a:ext cx="2934735" cy="512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13"/>
          <p:cNvSpPr txBox="1"/>
          <p:nvPr/>
        </p:nvSpPr>
        <p:spPr>
          <a:xfrm>
            <a:off x="45720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A45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0A458"/>
                </a:solidFill>
                <a:latin typeface="Calibri"/>
                <a:ea typeface="Calibri"/>
                <a:cs typeface="Calibri"/>
                <a:sym typeface="Calibri"/>
              </a:rPr>
              <a:t>CHALLENGES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3"/>
          <p:cNvSpPr txBox="1"/>
          <p:nvPr/>
        </p:nvSpPr>
        <p:spPr>
          <a:xfrm>
            <a:off x="457200" y="658368"/>
            <a:ext cx="86868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263B"/>
                </a:solidFill>
                <a:latin typeface="Cambria"/>
                <a:ea typeface="Cambria"/>
                <a:cs typeface="Cambria"/>
                <a:sym typeface="Cambria"/>
              </a:rPr>
              <a:t>What Made This Harder Than It Looks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3"/>
          <p:cNvSpPr/>
          <p:nvPr/>
        </p:nvSpPr>
        <p:spPr>
          <a:xfrm>
            <a:off x="457200" y="1691640"/>
            <a:ext cx="3611880" cy="2926080"/>
          </a:xfrm>
          <a:prstGeom prst="roundRect">
            <a:avLst>
              <a:gd fmla="val 2500" name="adj"/>
            </a:avLst>
          </a:prstGeom>
          <a:solidFill>
            <a:srgbClr val="F4F5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13"/>
          <p:cNvSpPr/>
          <p:nvPr/>
        </p:nvSpPr>
        <p:spPr>
          <a:xfrm>
            <a:off x="685800" y="1920240"/>
            <a:ext cx="640080" cy="640080"/>
          </a:xfrm>
          <a:prstGeom prst="ellipse">
            <a:avLst/>
          </a:prstGeom>
          <a:solidFill>
            <a:srgbClr val="415A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13"/>
          <p:cNvSpPr txBox="1"/>
          <p:nvPr/>
        </p:nvSpPr>
        <p:spPr>
          <a:xfrm>
            <a:off x="685800" y="192024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📐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3"/>
          <p:cNvSpPr txBox="1"/>
          <p:nvPr/>
        </p:nvSpPr>
        <p:spPr>
          <a:xfrm>
            <a:off x="640080" y="2697480"/>
            <a:ext cx="3246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Essay-Level Labels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3"/>
          <p:cNvSpPr txBox="1"/>
          <p:nvPr/>
        </p:nvSpPr>
        <p:spPr>
          <a:xfrm>
            <a:off x="640080" y="3154680"/>
            <a:ext cx="32461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465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3C4656"/>
                </a:solidFill>
                <a:latin typeface="Calibri"/>
                <a:ea typeface="Calibri"/>
                <a:cs typeface="Calibri"/>
                <a:sym typeface="Calibri"/>
              </a:rPr>
              <a:t>The dataset only marks edits at the essay level — word-level labels had to be built by overlapping edit character spans with each word's span.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3"/>
          <p:cNvSpPr/>
          <p:nvPr/>
        </p:nvSpPr>
        <p:spPr>
          <a:xfrm>
            <a:off x="4251960" y="1691640"/>
            <a:ext cx="3611880" cy="2926080"/>
          </a:xfrm>
          <a:prstGeom prst="roundRect">
            <a:avLst>
              <a:gd fmla="val 2500" name="adj"/>
            </a:avLst>
          </a:prstGeom>
          <a:solidFill>
            <a:srgbClr val="F4F5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13"/>
          <p:cNvSpPr/>
          <p:nvPr/>
        </p:nvSpPr>
        <p:spPr>
          <a:xfrm>
            <a:off x="4480560" y="1920240"/>
            <a:ext cx="640080" cy="640080"/>
          </a:xfrm>
          <a:prstGeom prst="ellipse">
            <a:avLst/>
          </a:prstGeom>
          <a:solidFill>
            <a:srgbClr val="415A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13"/>
          <p:cNvSpPr txBox="1"/>
          <p:nvPr/>
        </p:nvSpPr>
        <p:spPr>
          <a:xfrm>
            <a:off x="4480560" y="192024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⚖️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3"/>
          <p:cNvSpPr txBox="1"/>
          <p:nvPr/>
        </p:nvSpPr>
        <p:spPr>
          <a:xfrm>
            <a:off x="4434840" y="2697480"/>
            <a:ext cx="3246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Class Imbalance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3"/>
          <p:cNvSpPr txBox="1"/>
          <p:nvPr/>
        </p:nvSpPr>
        <p:spPr>
          <a:xfrm>
            <a:off x="4434840" y="3154680"/>
            <a:ext cx="32461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465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3C4656"/>
                </a:solidFill>
                <a:latin typeface="Calibri"/>
                <a:ea typeface="Calibri"/>
                <a:cs typeface="Calibri"/>
                <a:sym typeface="Calibri"/>
              </a:rPr>
              <a:t>Only ~13% of words are INCORRECT, so the model favors CORRECT — recall on INCORRECT words is just 0.28.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3"/>
          <p:cNvSpPr/>
          <p:nvPr/>
        </p:nvSpPr>
        <p:spPr>
          <a:xfrm>
            <a:off x="8046720" y="1691640"/>
            <a:ext cx="3611880" cy="2926080"/>
          </a:xfrm>
          <a:prstGeom prst="roundRect">
            <a:avLst>
              <a:gd fmla="val 2500" name="adj"/>
            </a:avLst>
          </a:prstGeom>
          <a:solidFill>
            <a:srgbClr val="F4F5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13"/>
          <p:cNvSpPr/>
          <p:nvPr/>
        </p:nvSpPr>
        <p:spPr>
          <a:xfrm>
            <a:off x="8275320" y="1920240"/>
            <a:ext cx="640080" cy="640080"/>
          </a:xfrm>
          <a:prstGeom prst="ellipse">
            <a:avLst/>
          </a:prstGeom>
          <a:solidFill>
            <a:srgbClr val="415A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13"/>
          <p:cNvSpPr txBox="1"/>
          <p:nvPr/>
        </p:nvSpPr>
        <p:spPr>
          <a:xfrm>
            <a:off x="8275320" y="192024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🐢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3"/>
          <p:cNvSpPr txBox="1"/>
          <p:nvPr/>
        </p:nvSpPr>
        <p:spPr>
          <a:xfrm>
            <a:off x="8229600" y="2697480"/>
            <a:ext cx="3246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CPU-Only Training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3"/>
          <p:cNvSpPr txBox="1"/>
          <p:nvPr/>
        </p:nvSpPr>
        <p:spPr>
          <a:xfrm>
            <a:off x="8229600" y="3154680"/>
            <a:ext cx="32461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465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3C4656"/>
                </a:solidFill>
                <a:latin typeface="Calibri"/>
                <a:ea typeface="Calibri"/>
                <a:cs typeface="Calibri"/>
                <a:sym typeface="Calibri"/>
              </a:rPr>
              <a:t>No GPU was available, so max sequence length, batch size, and epoch count all had to be tuned down to keep training feasible.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3"/>
          <p:cNvSpPr txBox="1"/>
          <p:nvPr/>
        </p:nvSpPr>
        <p:spPr>
          <a:xfrm>
            <a:off x="457200" y="651052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686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3"/>
          <p:cNvSpPr txBox="1"/>
          <p:nvPr/>
        </p:nvSpPr>
        <p:spPr>
          <a:xfrm>
            <a:off x="7315200" y="6510528"/>
            <a:ext cx="44165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686"/>
                </a:solidFill>
                <a:latin typeface="Calibri"/>
                <a:ea typeface="Calibri"/>
                <a:cs typeface="Calibri"/>
                <a:sym typeface="Calibri"/>
              </a:rPr>
              <a:t>Grammar Error Detection with BERT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6" name="Google Shape;42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57265" y="6255780"/>
            <a:ext cx="2934735" cy="512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63B"/>
        </a:solidFill>
      </p:bgPr>
    </p:bg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14"/>
          <p:cNvSpPr txBox="1"/>
          <p:nvPr/>
        </p:nvSpPr>
        <p:spPr>
          <a:xfrm>
            <a:off x="45720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A45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0A458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4"/>
          <p:cNvSpPr txBox="1"/>
          <p:nvPr/>
        </p:nvSpPr>
        <p:spPr>
          <a:xfrm>
            <a:off x="457200" y="658375"/>
            <a:ext cx="107880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From Raw Essays to a Deployed Grammar Checker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4"/>
          <p:cNvSpPr txBox="1"/>
          <p:nvPr/>
        </p:nvSpPr>
        <p:spPr>
          <a:xfrm>
            <a:off x="548640" y="1737360"/>
            <a:ext cx="2651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A458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E0A458"/>
                </a:solidFill>
                <a:latin typeface="Cambria"/>
                <a:ea typeface="Cambria"/>
                <a:cs typeface="Cambria"/>
                <a:sym typeface="Cambria"/>
              </a:rPr>
              <a:t>90%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4"/>
          <p:cNvSpPr txBox="1"/>
          <p:nvPr/>
        </p:nvSpPr>
        <p:spPr>
          <a:xfrm>
            <a:off x="548640" y="2377440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D2D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2DE"/>
                </a:solidFill>
                <a:latin typeface="Calibri"/>
                <a:ea typeface="Calibri"/>
                <a:cs typeface="Calibri"/>
                <a:sym typeface="Calibri"/>
              </a:rPr>
              <a:t>Word-Level Accuracy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4"/>
          <p:cNvSpPr txBox="1"/>
          <p:nvPr/>
        </p:nvSpPr>
        <p:spPr>
          <a:xfrm>
            <a:off x="3383280" y="1737360"/>
            <a:ext cx="2651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A458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E0A458"/>
                </a:solidFill>
                <a:latin typeface="Cambria"/>
                <a:ea typeface="Cambria"/>
                <a:cs typeface="Cambria"/>
                <a:sym typeface="Cambria"/>
              </a:rPr>
              <a:t>0.68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4"/>
          <p:cNvSpPr txBox="1"/>
          <p:nvPr/>
        </p:nvSpPr>
        <p:spPr>
          <a:xfrm>
            <a:off x="3383280" y="2377440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D2D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2DE"/>
                </a:solidFill>
                <a:latin typeface="Calibri"/>
                <a:ea typeface="Calibri"/>
                <a:cs typeface="Calibri"/>
                <a:sym typeface="Calibri"/>
              </a:rPr>
              <a:t>Macro F1-score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4"/>
          <p:cNvSpPr txBox="1"/>
          <p:nvPr/>
        </p:nvSpPr>
        <p:spPr>
          <a:xfrm>
            <a:off x="6217920" y="1737360"/>
            <a:ext cx="2651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A458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E0A458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4"/>
          <p:cNvSpPr txBox="1"/>
          <p:nvPr/>
        </p:nvSpPr>
        <p:spPr>
          <a:xfrm>
            <a:off x="6217920" y="2377440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D2D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2DE"/>
                </a:solidFill>
                <a:latin typeface="Calibri"/>
                <a:ea typeface="Calibri"/>
                <a:cs typeface="Calibri"/>
                <a:sym typeface="Calibri"/>
              </a:rPr>
              <a:t>Classes Predicted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4"/>
          <p:cNvSpPr txBox="1"/>
          <p:nvPr/>
        </p:nvSpPr>
        <p:spPr>
          <a:xfrm>
            <a:off x="9052560" y="1737360"/>
            <a:ext cx="2651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A458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E0A458"/>
                </a:solidFill>
                <a:latin typeface="Cambria"/>
                <a:ea typeface="Cambria"/>
                <a:cs typeface="Cambria"/>
                <a:sym typeface="Cambria"/>
              </a:rPr>
              <a:t>25,596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4"/>
          <p:cNvSpPr txBox="1"/>
          <p:nvPr/>
        </p:nvSpPr>
        <p:spPr>
          <a:xfrm>
            <a:off x="9052560" y="2377440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D2D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D2DE"/>
                </a:solidFill>
                <a:latin typeface="Calibri"/>
                <a:ea typeface="Calibri"/>
                <a:cs typeface="Calibri"/>
                <a:sym typeface="Calibri"/>
              </a:rPr>
              <a:t>Sentences Used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4"/>
          <p:cNvSpPr txBox="1"/>
          <p:nvPr/>
        </p:nvSpPr>
        <p:spPr>
          <a:xfrm>
            <a:off x="548640" y="3063240"/>
            <a:ext cx="11064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9E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5E9EF"/>
                </a:solidFill>
                <a:latin typeface="Calibri"/>
                <a:ea typeface="Calibri"/>
                <a:cs typeface="Calibri"/>
                <a:sym typeface="Calibri"/>
              </a:rPr>
              <a:t>Built end-to-end: essay parsing → sentence splitting &amp; word labeling → DistilBERT token classification → word-level evaluation → Streamlit deployment.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4"/>
          <p:cNvSpPr txBox="1"/>
          <p:nvPr/>
        </p:nvSpPr>
        <p:spPr>
          <a:xfrm>
            <a:off x="548640" y="379476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Future Work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4"/>
          <p:cNvSpPr/>
          <p:nvPr/>
        </p:nvSpPr>
        <p:spPr>
          <a:xfrm>
            <a:off x="548640" y="4251960"/>
            <a:ext cx="3611880" cy="1737360"/>
          </a:xfrm>
          <a:prstGeom prst="roundRect">
            <a:avLst>
              <a:gd fmla="val 4211" name="adj"/>
            </a:avLst>
          </a:prstGeom>
          <a:solidFill>
            <a:srgbClr val="415A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14"/>
          <p:cNvSpPr txBox="1"/>
          <p:nvPr/>
        </p:nvSpPr>
        <p:spPr>
          <a:xfrm>
            <a:off x="731520" y="4434840"/>
            <a:ext cx="324612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Improve recall on INCORRECT words (e.g. class weighting or oversampling), since only 28% of errors are caught.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4"/>
          <p:cNvSpPr/>
          <p:nvPr/>
        </p:nvSpPr>
        <p:spPr>
          <a:xfrm>
            <a:off x="4343400" y="4251960"/>
            <a:ext cx="3611880" cy="1737360"/>
          </a:xfrm>
          <a:prstGeom prst="roundRect">
            <a:avLst>
              <a:gd fmla="val 4211" name="adj"/>
            </a:avLst>
          </a:prstGeom>
          <a:solidFill>
            <a:srgbClr val="415A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14"/>
          <p:cNvSpPr txBox="1"/>
          <p:nvPr/>
        </p:nvSpPr>
        <p:spPr>
          <a:xfrm>
            <a:off x="4526280" y="4434840"/>
            <a:ext cx="324612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Apply Encoder-Decoder for this architecture to correct the sentences.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4"/>
          <p:cNvSpPr/>
          <p:nvPr/>
        </p:nvSpPr>
        <p:spPr>
          <a:xfrm>
            <a:off x="8138160" y="4251960"/>
            <a:ext cx="3611880" cy="1737360"/>
          </a:xfrm>
          <a:prstGeom prst="roundRect">
            <a:avLst>
              <a:gd fmla="val 4211" name="adj"/>
            </a:avLst>
          </a:prstGeom>
          <a:solidFill>
            <a:srgbClr val="415A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14"/>
          <p:cNvSpPr txBox="1"/>
          <p:nvPr/>
        </p:nvSpPr>
        <p:spPr>
          <a:xfrm>
            <a:off x="8321040" y="4434840"/>
            <a:ext cx="324612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Train for more epochs on a GPU for a stronger overall macro F1.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4"/>
          <p:cNvSpPr txBox="1"/>
          <p:nvPr/>
        </p:nvSpPr>
        <p:spPr>
          <a:xfrm>
            <a:off x="457200" y="6510528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686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4"/>
          <p:cNvSpPr txBox="1"/>
          <p:nvPr/>
        </p:nvSpPr>
        <p:spPr>
          <a:xfrm>
            <a:off x="7315200" y="6510528"/>
            <a:ext cx="44165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68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686"/>
                </a:solidFill>
                <a:latin typeface="Calibri"/>
                <a:ea typeface="Calibri"/>
                <a:cs typeface="Calibri"/>
                <a:sym typeface="Calibri"/>
              </a:rPr>
              <a:t>Grammar Error Detection with BERT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2" name="Google Shape;45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57265" y="6255780"/>
            <a:ext cx="2934735" cy="512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h754e48dc661aca41_0_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57265" y="6255780"/>
            <a:ext cx="2934735" cy="512574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h754e48dc661aca41_0_62"/>
          <p:cNvSpPr/>
          <p:nvPr/>
        </p:nvSpPr>
        <p:spPr>
          <a:xfrm>
            <a:off x="6166906" y="1843950"/>
            <a:ext cx="2995800" cy="31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0"/>
              <a:buFont typeface="Arial"/>
              <a:buNone/>
            </a:pPr>
            <a:r>
              <a:rPr b="1" i="0" lang="en-US" sz="20000" u="none" cap="none" strike="noStrike">
                <a:solidFill>
                  <a:srgbClr val="D4DBE5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9" name="Google Shape;459;h754e48dc661aca41_0_62"/>
          <p:cNvPicPr preferRelativeResize="0"/>
          <p:nvPr/>
        </p:nvPicPr>
        <p:blipFill rotWithShape="1">
          <a:blip r:embed="rId4">
            <a:alphaModFix/>
          </a:blip>
          <a:srcRect b="6253" l="0" r="0" t="0"/>
          <a:stretch/>
        </p:blipFill>
        <p:spPr>
          <a:xfrm>
            <a:off x="3729318" y="2455090"/>
            <a:ext cx="3358636" cy="212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63B"/>
        </a:solidFill>
      </p:bgPr>
    </p:bg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15"/>
          <p:cNvSpPr/>
          <p:nvPr/>
        </p:nvSpPr>
        <p:spPr>
          <a:xfrm>
            <a:off x="2688336" y="2377440"/>
            <a:ext cx="868680" cy="868680"/>
          </a:xfrm>
          <a:prstGeom prst="ellipse">
            <a:avLst/>
          </a:prstGeom>
          <a:solidFill>
            <a:srgbClr val="415A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15"/>
          <p:cNvSpPr txBox="1"/>
          <p:nvPr/>
        </p:nvSpPr>
        <p:spPr>
          <a:xfrm>
            <a:off x="2688336" y="2377440"/>
            <a:ext cx="8686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✅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5"/>
          <p:cNvSpPr/>
          <p:nvPr/>
        </p:nvSpPr>
        <p:spPr>
          <a:xfrm>
            <a:off x="3877056" y="2377440"/>
            <a:ext cx="868680" cy="868680"/>
          </a:xfrm>
          <a:prstGeom prst="ellipse">
            <a:avLst/>
          </a:prstGeom>
          <a:solidFill>
            <a:srgbClr val="415A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15"/>
          <p:cNvSpPr txBox="1"/>
          <p:nvPr/>
        </p:nvSpPr>
        <p:spPr>
          <a:xfrm>
            <a:off x="3877056" y="2377440"/>
            <a:ext cx="8686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❌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5"/>
          <p:cNvSpPr/>
          <p:nvPr/>
        </p:nvSpPr>
        <p:spPr>
          <a:xfrm>
            <a:off x="5065776" y="2377440"/>
            <a:ext cx="868680" cy="868680"/>
          </a:xfrm>
          <a:prstGeom prst="ellipse">
            <a:avLst/>
          </a:prstGeom>
          <a:solidFill>
            <a:srgbClr val="415A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15"/>
          <p:cNvSpPr txBox="1"/>
          <p:nvPr/>
        </p:nvSpPr>
        <p:spPr>
          <a:xfrm>
            <a:off x="5065776" y="2377440"/>
            <a:ext cx="8686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✍️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5"/>
          <p:cNvSpPr/>
          <p:nvPr/>
        </p:nvSpPr>
        <p:spPr>
          <a:xfrm>
            <a:off x="6254496" y="2377440"/>
            <a:ext cx="868680" cy="868680"/>
          </a:xfrm>
          <a:prstGeom prst="ellipse">
            <a:avLst/>
          </a:prstGeom>
          <a:solidFill>
            <a:srgbClr val="415A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15"/>
          <p:cNvSpPr txBox="1"/>
          <p:nvPr/>
        </p:nvSpPr>
        <p:spPr>
          <a:xfrm>
            <a:off x="6254496" y="2377440"/>
            <a:ext cx="8686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📝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5"/>
          <p:cNvSpPr/>
          <p:nvPr/>
        </p:nvSpPr>
        <p:spPr>
          <a:xfrm>
            <a:off x="7443216" y="2377440"/>
            <a:ext cx="868680" cy="868680"/>
          </a:xfrm>
          <a:prstGeom prst="ellipse">
            <a:avLst/>
          </a:prstGeom>
          <a:solidFill>
            <a:srgbClr val="415A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15"/>
          <p:cNvSpPr txBox="1"/>
          <p:nvPr/>
        </p:nvSpPr>
        <p:spPr>
          <a:xfrm>
            <a:off x="7443216" y="2377440"/>
            <a:ext cx="8686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🔤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5"/>
          <p:cNvSpPr/>
          <p:nvPr/>
        </p:nvSpPr>
        <p:spPr>
          <a:xfrm>
            <a:off x="8631936" y="2377440"/>
            <a:ext cx="868680" cy="868680"/>
          </a:xfrm>
          <a:prstGeom prst="ellipse">
            <a:avLst/>
          </a:prstGeom>
          <a:solidFill>
            <a:srgbClr val="415A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15"/>
          <p:cNvSpPr txBox="1"/>
          <p:nvPr/>
        </p:nvSpPr>
        <p:spPr>
          <a:xfrm>
            <a:off x="8631936" y="2377440"/>
            <a:ext cx="8686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❓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5"/>
          <p:cNvSpPr txBox="1"/>
          <p:nvPr/>
        </p:nvSpPr>
        <p:spPr>
          <a:xfrm>
            <a:off x="822960" y="3566160"/>
            <a:ext cx="10515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Thank You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78" name="Google Shape;47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57265" y="6255780"/>
            <a:ext cx="2934735" cy="512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2026-09-27T11:29:31Z</dcterms:created>
  <dc:creator>PptxGenJS</dc:creator>
</cp:coreProperties>
</file>